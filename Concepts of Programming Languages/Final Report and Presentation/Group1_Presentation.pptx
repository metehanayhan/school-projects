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2" r:id="rId22"/>
    <p:sldId id="271" r:id="rId23"/>
    <p:sldId id="273" r:id="rId2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240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2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24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166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96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98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6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060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90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33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74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50345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6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52FF1B8-145F-47AA-9F6F-7DA3201AA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8611822-D1B6-D0F2-5334-5F279EAA8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9243" y="1419225"/>
            <a:ext cx="6798608" cy="2346136"/>
          </a:xfrm>
        </p:spPr>
        <p:txBody>
          <a:bodyPr>
            <a:normAutofit/>
          </a:bodyPr>
          <a:lstStyle/>
          <a:p>
            <a:r>
              <a:rPr lang="tr-TR" sz="4400" dirty="0"/>
              <a:t>PROGRAMLAMA DİLLERİNİN KAVRAMLARI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79862DF-A3C5-F61D-E987-91227AD0D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9242" y="3829877"/>
            <a:ext cx="2763253" cy="802511"/>
          </a:xfrm>
        </p:spPr>
        <p:txBody>
          <a:bodyPr>
            <a:noAutofit/>
          </a:bodyPr>
          <a:lstStyle/>
          <a:p>
            <a:r>
              <a:rPr lang="tr-TR" sz="4400" dirty="0">
                <a:latin typeface="Algerian" panose="04020705040A02060702" pitchFamily="82" charset="0"/>
              </a:rPr>
              <a:t>PYTHON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FE8A8C-8C1F-40A1-8A45-9D05B0DD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1EF8C3-8F8A-447D-A5FF-C12426825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0" name="Rectangle 18">
            <a:extLst>
              <a:ext uri="{FF2B5EF4-FFF2-40B4-BE49-F238E27FC236}">
                <a16:creationId xmlns:a16="http://schemas.microsoft.com/office/drawing/2014/main" id="{1B511BAF-6DC3-420A-8603-96945C66A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9B2F3748-4EF9-7727-0929-0280ECEDB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2056140"/>
            <a:ext cx="3053422" cy="3039851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D853078C-9288-62A7-C562-8A0A93C78B34}"/>
              </a:ext>
            </a:extLst>
          </p:cNvPr>
          <p:cNvSpPr txBox="1"/>
          <p:nvPr/>
        </p:nvSpPr>
        <p:spPr>
          <a:xfrm>
            <a:off x="4579242" y="4696904"/>
            <a:ext cx="2183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+mj-lt"/>
              </a:rPr>
              <a:t>Metehan AYHAN </a:t>
            </a:r>
          </a:p>
          <a:p>
            <a:r>
              <a:rPr lang="tr-TR" dirty="0">
                <a:latin typeface="+mj-lt"/>
              </a:rPr>
              <a:t>İbrahim GÜNDÜZ</a:t>
            </a:r>
          </a:p>
        </p:txBody>
      </p:sp>
    </p:spTree>
    <p:extLst>
      <p:ext uri="{BB962C8B-B14F-4D97-AF65-F5344CB8AC3E}">
        <p14:creationId xmlns:p14="http://schemas.microsoft.com/office/powerpoint/2010/main" val="2686962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368AE1F-C26E-52F8-14A1-D07CE10E4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1" y="702156"/>
            <a:ext cx="7011413" cy="1013800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chemeClr val="tx2"/>
                </a:solidFill>
              </a:rPr>
              <a:t>Python Nedir?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E54A6FE-D8CB-48A3-900B-053D4EBD3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10058680-D07C-4893-B2B7-91543F18A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E16B7BF-D511-90B0-0E59-876E8E1F6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896533"/>
            <a:ext cx="7011413" cy="3962266"/>
          </a:xfrm>
        </p:spPr>
        <p:txBody>
          <a:bodyPr>
            <a:normAutofit/>
          </a:bodyPr>
          <a:lstStyle/>
          <a:p>
            <a:r>
              <a:rPr lang="tr-TR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Python, genel amaçlı, yüksek seviyeli, yorumlanan (</a:t>
            </a:r>
            <a:r>
              <a:rPr lang="tr-TR" sz="1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interpreted</a:t>
            </a:r>
            <a:r>
              <a:rPr lang="tr-TR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ve dinamik tip özelliklerine sahip bir programlama dilidir. İlk olarak 1991 yılında </a:t>
            </a:r>
            <a:r>
              <a:rPr lang="tr-TR" sz="16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Guido</a:t>
            </a:r>
            <a:r>
              <a:rPr lang="tr-TR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6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van</a:t>
            </a:r>
            <a:r>
              <a:rPr lang="tr-TR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6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Rossum</a:t>
            </a:r>
            <a:r>
              <a:rPr lang="tr-TR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tarafından geliştirilmiştir. Python, hem yeni başlayanlar için hem de ileri düzeyde projeler geliştiren deneyimli yazılımcılar için tasarlanmıştır.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Python’un adı, </a:t>
            </a: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Guido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van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Rossum’un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hayranı olduğu </a:t>
            </a:r>
            <a:r>
              <a:rPr lang="tr-T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tr-TR" sz="16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Monty</a:t>
            </a:r>
            <a:r>
              <a:rPr lang="tr-T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6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Python’s</a:t>
            </a:r>
            <a:r>
              <a:rPr lang="tr-T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6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Flying</a:t>
            </a:r>
            <a:r>
              <a:rPr lang="tr-T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Circus”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adlı İngiliz komedi programından gelir. Dilin adı yılanlarla alakalı değildir.</a:t>
            </a:r>
          </a:p>
          <a:p>
            <a:endParaRPr lang="tr-TR" dirty="0"/>
          </a:p>
        </p:txBody>
      </p:sp>
      <p:pic>
        <p:nvPicPr>
          <p:cNvPr id="2050" name="Picture 2" descr="Guido van Rossum - Vikipedi">
            <a:extLst>
              <a:ext uri="{FF2B5EF4-FFF2-40B4-BE49-F238E27FC236}">
                <a16:creationId xmlns:a16="http://schemas.microsoft.com/office/drawing/2014/main" id="{AA7ABC6C-C16E-818B-958D-2DC74C8A2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0" b="3"/>
          <a:stretch/>
        </p:blipFill>
        <p:spPr bwMode="auto">
          <a:xfrm>
            <a:off x="8042147" y="601201"/>
            <a:ext cx="3703320" cy="577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8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7C59B5F-E488-A531-E5CE-0D38263EE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tr-TR">
                <a:solidFill>
                  <a:schemeClr val="tx2"/>
                </a:solidFill>
              </a:rPr>
              <a:t>Python Nerelerde Kullanılır?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EFC94B1-FE5A-294D-7742-E4C047EDB3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189" y="1669948"/>
            <a:ext cx="7808118" cy="49934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Veri Bilimi ve Makine Öğrenimi: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Veri analizi, görselleştirme ve yapay zeka projelerinde (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TensorFlow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Web Geliştirme: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Dinamik web siteleri ve uygulamalar (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Django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Oyun Geliştirme: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Basit ve orta seviyeli oyunlar için (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Pygame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Otomasyon (Scripting):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Tekrarlayan işleri otomatikleştirme (web kazıma, dosya işleme).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Yapay Zeka ve Robotik: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Algoritmaların geliştirilmesi ve robotların kontrolü.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Finansal ve İş Analitiği: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Finansal modelleme, tahminleme ve raporlama.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IoT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(Nesnelerin İnterneti):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Sensör verilerini işlemek ve cihazları kontrol etmek.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Uygulama Geliştirme: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Masaüstü uygulamalar ve araçlar (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PyQt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Bilimsel Hesaplamalar: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Araştırma ve mühendislik alanlarında (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SciPy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Resim 8" descr="metin, sanat, ekran görüntüsü, devre içeren bir resim&#10;&#10;Açıklama otomatik olarak oluşturuldu">
            <a:extLst>
              <a:ext uri="{FF2B5EF4-FFF2-40B4-BE49-F238E27FC236}">
                <a16:creationId xmlns:a16="http://schemas.microsoft.com/office/drawing/2014/main" id="{7B1FA2A1-7B1A-D491-BB38-4D4509AED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59" r="35051" b="1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8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0B44E6-A2CB-C961-137B-039DD6B2A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Python'un Temel Özellikleri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9989A14-FAFB-804D-317D-D1AA4ECA9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3"/>
            <a:ext cx="11029615" cy="3976809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Yüksek Seviyeli (High-Level):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Kod yazarken donanım seviyesine çok fazla odaklanmanız gerekmez. Bunun yerine, probleminize odaklanabilirsiniz.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Yorumlanan (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Interpreted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Python kodu derlenmek yerine satır </a:t>
            </a:r>
            <a:r>
              <a:rPr lang="tr-T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satır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çalıştırılır. Bu özellik hızlı prototip oluşturmayı kolaylaştırır.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Dinamik Tip (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Dynamically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Typed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Değişkenlerin türünü açıkça belirtmeden kullanabilirsiniz. Türler çalışma zamanında belirlenir.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Açık Kaynak ve Ücretsiz: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Python herkesin kullanımına açıktır ve sürekli olarak dünya çapındaki bir topluluk tarafından geliştirilir.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Platformdan Bağımsız: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Python bir platformda yazıldığında, diğer platformlarda da çalıştırılabilir (örneğin, Windows, MacOS ve Linux).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9598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D608FE-1E09-6530-45EA-B8D65AE9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Python'un Tarihsel Gelişimi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67D591-58FF-2C5A-5D6E-636AC4E1FF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449947"/>
            <a:ext cx="1113282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1989 – Başlangıç: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Rossum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basit ve okunabilir bir programlama dili oluşturmak amacıyla Python’un temellerini atmaya başladı.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1991 – İlk Yayın: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Python’un ilk sürümü (0.9.0) yayınlandı. Bu sürümde modüller, sınıflar ve hata yönetimi gibi temel özellikler vardı.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1994 – Python 1.0: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İlk büyük sürüm. Fonksiyonel programlama özellikleri (lambda,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eklendi.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2000 – Python 2.0: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comprehension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 çöp toplayıcı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garbage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gibi özelliklerle büyük bir güncelleme. Ancak bu sürüm, Python 3 ile uyumsuzluk sorunlarıyla eleştirildi.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40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46C546-9792-7A16-4CE7-E9EBDCA59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Python'un Tarihsel Gelişimi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1C261F-8371-F649-EDDF-7BACABC096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2444196"/>
            <a:ext cx="1086318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2008 – Python 3.0: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Geliştiriciler için modern bir dil yapısı oluşturuldu. Unicode desteği ve eski Python 2 özelliklerinden arınma amacıyla uyumsuzluk pahasına büyük değişiklikler yapıldı.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2010’lar – Popülerlik Kazanımı: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 bilimi, yapay zeka ve web geliştirme gibi alanlarda yükselen bir trend haline geldi.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gibi kütüphaneler popüler oldu.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2020 – Python 2’nin Sonu: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2'nin resmi desteği sona erdi ve Python 3 tamamen standart hale geldi.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Günümüz: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Python, dünya çapında en çok kullanılan ve öğretilen dillerden biri olarak kabul ediliyor. Açık kaynak topluluğu ve düzenli güncellemeleriyle büyümeye devam ediyor.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69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B033ED-85C5-902D-ACB2-D6A605221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Önemli </a:t>
            </a:r>
            <a:r>
              <a:rPr lang="tr-TR" dirty="0" err="1"/>
              <a:t>ÖzelliklerE</a:t>
            </a:r>
            <a:r>
              <a:rPr lang="tr-TR" dirty="0"/>
              <a:t> Genel Bakış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8B776C6-A15A-47C6-E305-84FEA51E3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4882203" cy="3634486"/>
          </a:xfrm>
        </p:spPr>
        <p:txBody>
          <a:bodyPr/>
          <a:lstStyle/>
          <a:p>
            <a:pPr lvl="0"/>
            <a:r>
              <a:rPr lang="tr-TR" b="1" dirty="0"/>
              <a:t>Python 1.0</a:t>
            </a:r>
            <a:r>
              <a:rPr lang="tr-TR" dirty="0"/>
              <a:t>: Temel dil özellikleri.</a:t>
            </a:r>
          </a:p>
          <a:p>
            <a:pPr lvl="0"/>
            <a:r>
              <a:rPr lang="tr-TR" b="1" dirty="0"/>
              <a:t>Python 2.0</a:t>
            </a:r>
            <a:r>
              <a:rPr lang="tr-TR" dirty="0"/>
              <a:t>: Çöp toplama ve </a:t>
            </a:r>
            <a:r>
              <a:rPr lang="tr-TR" dirty="0" err="1"/>
              <a:t>list</a:t>
            </a:r>
            <a:r>
              <a:rPr lang="tr-TR" dirty="0"/>
              <a:t> </a:t>
            </a:r>
            <a:r>
              <a:rPr lang="tr-TR" dirty="0" err="1"/>
              <a:t>comprehension</a:t>
            </a:r>
            <a:r>
              <a:rPr lang="tr-TR" dirty="0"/>
              <a:t>.</a:t>
            </a:r>
          </a:p>
          <a:p>
            <a:pPr lvl="0"/>
            <a:r>
              <a:rPr lang="tr-TR" b="1" dirty="0"/>
              <a:t>Python 3.0</a:t>
            </a:r>
            <a:r>
              <a:rPr lang="tr-TR" dirty="0"/>
              <a:t>: varsayılan olarak Unicode ve modern </a:t>
            </a:r>
            <a:r>
              <a:rPr lang="tr-TR" dirty="0" err="1"/>
              <a:t>syntax</a:t>
            </a:r>
            <a:r>
              <a:rPr lang="tr-TR" dirty="0"/>
              <a:t>.</a:t>
            </a:r>
          </a:p>
          <a:p>
            <a:pPr lvl="0"/>
            <a:r>
              <a:rPr lang="tr-TR" b="1" dirty="0"/>
              <a:t>Python 3.6</a:t>
            </a:r>
            <a:r>
              <a:rPr lang="tr-TR" dirty="0"/>
              <a:t>: F-</a:t>
            </a:r>
            <a:r>
              <a:rPr lang="tr-TR" dirty="0" err="1"/>
              <a:t>string'ler</a:t>
            </a:r>
            <a:r>
              <a:rPr lang="tr-TR" dirty="0"/>
              <a:t>.</a:t>
            </a:r>
          </a:p>
          <a:p>
            <a:pPr lvl="0"/>
            <a:r>
              <a:rPr lang="tr-TR" b="1" dirty="0"/>
              <a:t>Python 3.10</a:t>
            </a:r>
            <a:r>
              <a:rPr lang="tr-TR" dirty="0"/>
              <a:t>: </a:t>
            </a:r>
            <a:r>
              <a:rPr lang="tr-TR" dirty="0" err="1"/>
              <a:t>Match-case</a:t>
            </a:r>
            <a:r>
              <a:rPr lang="tr-TR" dirty="0"/>
              <a:t>.</a:t>
            </a:r>
          </a:p>
        </p:txBody>
      </p:sp>
      <p:pic>
        <p:nvPicPr>
          <p:cNvPr id="33" name="Resim 32">
            <a:extLst>
              <a:ext uri="{FF2B5EF4-FFF2-40B4-BE49-F238E27FC236}">
                <a16:creationId xmlns:a16="http://schemas.microsoft.com/office/drawing/2014/main" id="{10973F50-4052-A3C5-84FC-BC12BF71B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163" y="2019023"/>
            <a:ext cx="6863837" cy="369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28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A52109-064A-9D10-42C2-595A536C0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okunabilirlik ve sürdürülebilirliğe katkıda bulunan bazı özellikler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C0E139-03D0-935C-5A9A-5C791B12D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3"/>
            <a:ext cx="11029615" cy="3921913"/>
          </a:xfrm>
        </p:spPr>
        <p:txBody>
          <a:bodyPr/>
          <a:lstStyle/>
          <a:p>
            <a:pPr lvl="0"/>
            <a:r>
              <a:rPr lang="tr-TR" b="1" dirty="0"/>
              <a:t>Açık isimlendirme</a:t>
            </a:r>
            <a:r>
              <a:rPr lang="tr-TR" dirty="0"/>
              <a:t>: Python, net ve açıklayıcı değişken ile fonksiyon isimleri kullanmayı teşvik eder. Bu, geliştiricilerin kodun amacını ve işlevselliğini, gereksiz yorumlara ihtiyaç duymadan anlamalarına yardımcı olur.</a:t>
            </a:r>
          </a:p>
          <a:p>
            <a:pPr lvl="0"/>
            <a:r>
              <a:rPr lang="tr-TR" b="1" dirty="0"/>
              <a:t>Minimal sözdizimi</a:t>
            </a:r>
            <a:r>
              <a:rPr lang="tr-TR" dirty="0"/>
              <a:t>: Python, gereksiz sözdizimsel öğelerden kaçınır, kodun özlü ve işlevselliğe odaklanmış olmasını sağlar.</a:t>
            </a:r>
          </a:p>
          <a:p>
            <a:pPr lvl="0"/>
            <a:r>
              <a:rPr lang="tr-TR" b="1" dirty="0"/>
              <a:t>Yerleşik fonksiyonlar ve kütüphaneler</a:t>
            </a:r>
            <a:r>
              <a:rPr lang="tr-TR" dirty="0"/>
              <a:t>: Python, temiz ve verimli kod yazmayı kolaylaştıran zengin bir yerleşik fonksiyon ve kütüphane seti sunar.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8704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4B8ABB-6914-9D91-CD1C-A0730A03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Okunabilirlik</a:t>
            </a:r>
          </a:p>
        </p:txBody>
      </p:sp>
      <p:pic>
        <p:nvPicPr>
          <p:cNvPr id="4" name="Picture 2" descr="listcomp">
            <a:extLst>
              <a:ext uri="{FF2B5EF4-FFF2-40B4-BE49-F238E27FC236}">
                <a16:creationId xmlns:a16="http://schemas.microsoft.com/office/drawing/2014/main" id="{62363DAD-B993-43EA-B6E0-2274A1E147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479" y="2289943"/>
            <a:ext cx="4819291" cy="3570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4F862CFE-9C60-DE60-376A-AA135532D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496" y="3337591"/>
            <a:ext cx="4949931" cy="147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157B618-79CF-0696-7AFB-477619E13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tr-TR" dirty="0"/>
              <a:t>Python’un Avantajları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Advantages Images – Browse 331,166 Stock Photos, Vectors, and Video | Adobe  Stock">
            <a:extLst>
              <a:ext uri="{FF2B5EF4-FFF2-40B4-BE49-F238E27FC236}">
                <a16:creationId xmlns:a16="http://schemas.microsoft.com/office/drawing/2014/main" id="{DD80B4EF-AD32-E5D2-C511-8BCE22BBB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698" y="2676216"/>
            <a:ext cx="4748741" cy="305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3609320-BFF4-6040-265B-111D5C1A0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tr-TR" sz="1300" b="1"/>
              <a:t>Öğrenmesi ve Kullanımı Kolay: </a:t>
            </a:r>
            <a:r>
              <a:rPr lang="tr-TR" sz="1300"/>
              <a:t>Python sözdizimi basittir ve öğrenme eğrisi basittir. Bu, onu yeni başlayanlar için uygun hale getirir: bir geliştirici Python öğrenirken hızla üretken olabilir.</a:t>
            </a:r>
          </a:p>
          <a:p>
            <a:pPr lvl="0">
              <a:lnSpc>
                <a:spcPct val="100000"/>
              </a:lnSpc>
            </a:pPr>
            <a:r>
              <a:rPr lang="tr-TR" sz="1300" b="1"/>
              <a:t>Güçlü Topluluk Desteği:</a:t>
            </a:r>
            <a:r>
              <a:rPr lang="tr-TR" sz="1300"/>
              <a:t> Python’un bir diğer avantajı da geniş ve aktif topluluğudur. Dil ile ilgili kapsamlı belgeler, eğitimler ve kütüphaneler, geliştiriciler için ihtiyaç duyulduğunda kolayca erişilebilir olacaktır.</a:t>
            </a:r>
          </a:p>
          <a:p>
            <a:pPr>
              <a:lnSpc>
                <a:spcPct val="100000"/>
              </a:lnSpc>
            </a:pPr>
            <a:r>
              <a:rPr lang="tr-TR" sz="1300" b="1"/>
              <a:t>Kapsamlı Kütüphaneler ve Çerçeveler: </a:t>
            </a:r>
            <a:r>
              <a:rPr lang="tr-TR" sz="1300"/>
              <a:t>Python, geliştiricilerin basit bir görev için sıfırdan bir şey uygulamasını engelleyen bol miktarda kütüphane ve çerçeve içerir.</a:t>
            </a:r>
          </a:p>
          <a:p>
            <a:pPr>
              <a:lnSpc>
                <a:spcPct val="100000"/>
              </a:lnSpc>
            </a:pPr>
            <a:r>
              <a:rPr lang="tr-TR" sz="1300" b="1"/>
              <a:t>Çok Yönlü ve Genişletilebilir:</a:t>
            </a:r>
            <a:r>
              <a:rPr lang="tr-TR" sz="1300"/>
              <a:t> Web geliştirme araçlarından yapay zekaya kadar Python’un kapsamlı kullanımı, çok yönlülüğünü kanıtlar. Dil, C++ ve Java gibi diğer dillere de yerleştirilebilir.</a:t>
            </a:r>
          </a:p>
          <a:p>
            <a:pPr>
              <a:lnSpc>
                <a:spcPct val="100000"/>
              </a:lnSpc>
            </a:pPr>
            <a:r>
              <a:rPr lang="tr-TR" sz="1300" b="1"/>
              <a:t>Platformlar Arası Uyumluluk:</a:t>
            </a:r>
            <a:r>
              <a:rPr lang="tr-TR" sz="1300"/>
              <a:t> Python, farklı işletim sistemlerinde çalışmak için değişiklik gerektirmez ve bu da geliştiricilerin çok platformlu ortamlarda çalışmasını oldukça kolaylaştırır.</a:t>
            </a:r>
          </a:p>
          <a:p>
            <a:pPr>
              <a:lnSpc>
                <a:spcPct val="100000"/>
              </a:lnSpc>
            </a:pPr>
            <a:endParaRPr lang="tr-TR" sz="1300"/>
          </a:p>
        </p:txBody>
      </p:sp>
    </p:spTree>
    <p:extLst>
      <p:ext uri="{BB962C8B-B14F-4D97-AF65-F5344CB8AC3E}">
        <p14:creationId xmlns:p14="http://schemas.microsoft.com/office/powerpoint/2010/main" val="199837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4D2207-AA67-DAD1-D42E-7A07328CA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2" descr="Common Disadvantages of Remote Work : Jobillico.com">
            <a:extLst>
              <a:ext uri="{FF2B5EF4-FFF2-40B4-BE49-F238E27FC236}">
                <a16:creationId xmlns:a16="http://schemas.microsoft.com/office/drawing/2014/main" id="{EF3519A0-0780-EE8F-2120-2E5DE458F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48" r="26696" b="2"/>
          <a:stretch/>
        </p:blipFill>
        <p:spPr bwMode="auto">
          <a:xfrm>
            <a:off x="585216" y="2163544"/>
            <a:ext cx="3410985" cy="4211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D1A1EA42-F7C2-CE79-F9A0-0D8530284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5" y="1293962"/>
            <a:ext cx="6453939" cy="704505"/>
          </a:xfrm>
        </p:spPr>
        <p:txBody>
          <a:bodyPr anchor="t">
            <a:normAutofit/>
          </a:bodyPr>
          <a:lstStyle/>
          <a:p>
            <a:r>
              <a:rPr lang="tr-TR" dirty="0"/>
              <a:t>Python’un Dezavantajları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7161C1E-B52B-8940-307A-D73658BB0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9976" y="2163544"/>
            <a:ext cx="7365491" cy="4301265"/>
          </a:xfrm>
        </p:spPr>
        <p:txBody>
          <a:bodyPr anchor="t">
            <a:normAutofit/>
          </a:bodyPr>
          <a:lstStyle/>
          <a:p>
            <a:pPr lvl="0"/>
            <a:r>
              <a:rPr lang="tr-TR" b="1" dirty="0"/>
              <a:t>Daha Yavaş Yürütme Hızı:</a:t>
            </a:r>
            <a:r>
              <a:rPr lang="tr-TR" dirty="0"/>
              <a:t> Python, yorumlanan bir dil olduğundan, derlenen C++ veya Java gibi dillere kıyasla daha yavaştır. Bu özellik, kritik performans gerektiren uygulamalar için bir dezavantaj olabilir.</a:t>
            </a:r>
          </a:p>
          <a:p>
            <a:pPr lvl="0"/>
            <a:r>
              <a:rPr lang="tr-TR" b="1" dirty="0"/>
              <a:t>Bellek Tüketimi:</a:t>
            </a:r>
            <a:r>
              <a:rPr lang="tr-TR" dirty="0"/>
              <a:t> Python, büyük uygulamaların önemli miktarda bellek kullanmasıyla çok fazla bellek gerektirir. Bu, daha düşük bellek miktarlarında bir darboğaz haline gelebilir.</a:t>
            </a:r>
          </a:p>
          <a:p>
            <a:pPr lvl="0"/>
            <a:r>
              <a:rPr lang="tr-TR" b="1" dirty="0"/>
              <a:t>Mobil Bilgisayarda Zayıf: </a:t>
            </a:r>
            <a:r>
              <a:rPr lang="tr-TR" dirty="0"/>
              <a:t>Python, sunucu tarafı geliştirme için çok güçlü bir dil olmasına rağmen, mobil geliştirme için kullanılmaz. Mobil uygulamaları geliştirmek için Swift veya </a:t>
            </a:r>
            <a:r>
              <a:rPr lang="tr-TR" dirty="0" err="1"/>
              <a:t>Kotlin</a:t>
            </a:r>
            <a:r>
              <a:rPr lang="tr-TR" dirty="0"/>
              <a:t> kullanılır.</a:t>
            </a:r>
          </a:p>
          <a:p>
            <a:pPr lvl="0"/>
            <a:r>
              <a:rPr lang="tr-TR" b="1" dirty="0"/>
              <a:t>Çalışma Zamanı Hataları:</a:t>
            </a:r>
            <a:r>
              <a:rPr lang="tr-TR" dirty="0"/>
              <a:t> Python dinamik olarak yazılmıştır ve bu, geliştirme sırasında bazı hatalar yakalanmadığı takdirde çalışma zamanı hatalarına yol açabilir.</a:t>
            </a:r>
          </a:p>
          <a:p>
            <a:endParaRPr lang="tr-T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047182-D574-4420-02BD-B1574963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F9EDA4-AE82-51D4-9890-D3FD6D2AF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32D855-C8B5-8666-2EF6-1D436A827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21CC1B-60BB-4D8F-720C-D736C761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Python’un Kategorilere Göre Sınıflandırılması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FF44DFA-CCE9-55A3-ED05-9C0A1FC28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Paradigma Temelli: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Emirsel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Nesne Yönelimli, Fonksiyonel.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Seviye: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Yüksek Seviyeli.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Kullanım Amacı: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Genel Amaçlı.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Yorumlama/Derleme: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Yorumlanabilir.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Tip Kontrolü: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Dinamik Tip.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Dinamik Tip Bağlama: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Tipler çalışma zamanında belirlenir.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8838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3CBE37-B2D0-FD55-0859-16902310D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Objects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B2F9A9E-9F20-D9FC-59F5-D292628F2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5577"/>
            <a:ext cx="11029615" cy="4681268"/>
          </a:xfrm>
        </p:spPr>
        <p:txBody>
          <a:bodyPr>
            <a:normAutofit/>
          </a:bodyPr>
          <a:lstStyle/>
          <a:p>
            <a:r>
              <a:rPr lang="tr-T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Python'da </a:t>
            </a:r>
            <a:r>
              <a:rPr lang="tr-TR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objects</a:t>
            </a:r>
            <a:r>
              <a:rPr lang="tr-T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(nesneler)</a:t>
            </a:r>
            <a:r>
              <a:rPr lang="tr-T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bir değeri veya birden fazla değeri temsil eden veri yapılarıdır. Python'daki her şey bir nesnedir: tamsayılar, listeler, sınıflar, hatta fonksiyonlar bile birer nesnedir.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Scalar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Skaler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Objects</a:t>
            </a:r>
            <a:endParaRPr lang="tr-T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Skaler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nesneler, 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bölünemez (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atomic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ve tekil değerler içeren nesnelerdir.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Daha fazla alt bileşene ayrılmazlar; doğrudan bir değeri temsil ederler.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Sayılar (</a:t>
            </a:r>
            <a:r>
              <a:rPr lang="tr-T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integer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tr-T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float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 Karakterler (</a:t>
            </a:r>
            <a:r>
              <a:rPr lang="tr-T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 </a:t>
            </a:r>
            <a:r>
              <a:rPr lang="tr-T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Boolean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değerleri (True, </a:t>
            </a:r>
            <a:r>
              <a:rPr lang="tr-T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Non-Scalar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Skaler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Olmayan) Objects</a:t>
            </a:r>
            <a:endParaRPr lang="tr-T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Non-scalar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nesneler, birden fazla değeri veya öğeyi içerir.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Bölünebilir ve alt bileşenlerine erişilebilir.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Liste (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 Demet (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tuple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 Sözlük (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dictionary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4679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801F3B-60C2-4AE0-3E18-52C36266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and Values (</a:t>
            </a:r>
            <a:r>
              <a:rPr lang="en-US" dirty="0" err="1"/>
              <a:t>Nesneler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)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C85F543-AE81-823D-5292-96908DD64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Python'da, her şey bir 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nesne (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olarak temsil edilir. Bu nesnelerin: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Değeri (Value):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İçerdikleri bilgi,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Tipi (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Nesnenin veri türü (örneğin, </a:t>
            </a:r>
            <a:r>
              <a:rPr lang="tr-T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tr-T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integer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tr-T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float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Kimliği (Identity):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Nesnenin bellekteki adresi bulunmaktadır.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Değişkenler, nesnelere referans eder. Bu referansın çalışma şekli, 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mutable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(değiştirilebilir)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ve 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immutable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(değiştirilemez)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nesnelerle farklılık gösterir. Ayrıca, aynı değeri paylaşan veya aynı nesneyi işaret eden değişkenler arasında farklı durumlar oluşabilir.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2030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7DC3884-98D3-4D12-35C1-8E120AFA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and Values (</a:t>
            </a:r>
            <a:r>
              <a:rPr lang="en-US" dirty="0" err="1"/>
              <a:t>Nesneler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)</a:t>
            </a:r>
            <a:endParaRPr lang="tr-TR" dirty="0"/>
          </a:p>
        </p:txBody>
      </p:sp>
      <p:pic>
        <p:nvPicPr>
          <p:cNvPr id="5" name="İçerik Yer Tutucusu 4" descr="metin, yazı tipi, ekran görüntüsü, beyaz içeren bir resim&#10;&#10;Açıklama otomatik olarak oluşturuldu">
            <a:extLst>
              <a:ext uri="{FF2B5EF4-FFF2-40B4-BE49-F238E27FC236}">
                <a16:creationId xmlns:a16="http://schemas.microsoft.com/office/drawing/2014/main" id="{EAE8832E-4323-DC7F-251E-950B26256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742" y="1958413"/>
            <a:ext cx="4204277" cy="1524210"/>
          </a:xfrm>
        </p:spPr>
      </p:pic>
      <p:pic>
        <p:nvPicPr>
          <p:cNvPr id="7" name="Resim 6" descr="metin, yazı tipi, beyaz, grafik içeren bir resim&#10;&#10;Açıklama otomatik olarak oluşturuldu">
            <a:extLst>
              <a:ext uri="{FF2B5EF4-FFF2-40B4-BE49-F238E27FC236}">
                <a16:creationId xmlns:a16="http://schemas.microsoft.com/office/drawing/2014/main" id="{0B77C3F2-A6C2-75DD-D60D-8F037415F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07" y="3577098"/>
            <a:ext cx="2534004" cy="657317"/>
          </a:xfrm>
          <a:prstGeom prst="rect">
            <a:avLst/>
          </a:prstGeom>
        </p:spPr>
      </p:pic>
      <p:pic>
        <p:nvPicPr>
          <p:cNvPr id="9" name="Resim 8" descr="metin, yazı tipi, beyaz, logo içeren bir resim&#10;&#10;Açıklama otomatik olarak oluşturuldu">
            <a:extLst>
              <a:ext uri="{FF2B5EF4-FFF2-40B4-BE49-F238E27FC236}">
                <a16:creationId xmlns:a16="http://schemas.microsoft.com/office/drawing/2014/main" id="{0944F7A5-01D3-F720-EFE0-31FC36AD0E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9472" y="3577098"/>
            <a:ext cx="2962688" cy="762106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BE063333-E4FE-D04F-F744-5898B48E4F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838" y="4623948"/>
            <a:ext cx="1257475" cy="457264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D557A6CA-EAD6-653C-8E2E-A66287F72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543" y="4576181"/>
            <a:ext cx="1257475" cy="457264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8C45A4AF-3B87-A02B-01FE-6CDD539D2AE7}"/>
              </a:ext>
            </a:extLst>
          </p:cNvPr>
          <p:cNvSpPr txBox="1"/>
          <p:nvPr/>
        </p:nvSpPr>
        <p:spPr>
          <a:xfrm>
            <a:off x="3572389" y="4333742"/>
            <a:ext cx="414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/>
              <a:t>a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53147E70-DD22-7D3D-58FD-EF4F269E3D7F}"/>
              </a:ext>
            </a:extLst>
          </p:cNvPr>
          <p:cNvSpPr txBox="1"/>
          <p:nvPr/>
        </p:nvSpPr>
        <p:spPr>
          <a:xfrm>
            <a:off x="6431525" y="5081212"/>
            <a:ext cx="433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/>
              <a:t>b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F46C81D2-3C3B-2B8A-EED0-31204330BFCF}"/>
              </a:ext>
            </a:extLst>
          </p:cNvPr>
          <p:cNvSpPr txBox="1"/>
          <p:nvPr/>
        </p:nvSpPr>
        <p:spPr>
          <a:xfrm>
            <a:off x="6441057" y="4333742"/>
            <a:ext cx="414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/>
              <a:t>a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E5D46283-5BCD-6330-55DA-8655C4138E88}"/>
              </a:ext>
            </a:extLst>
          </p:cNvPr>
          <p:cNvSpPr txBox="1"/>
          <p:nvPr/>
        </p:nvSpPr>
        <p:spPr>
          <a:xfrm>
            <a:off x="3572389" y="5119899"/>
            <a:ext cx="433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/>
              <a:t>b</a:t>
            </a:r>
          </a:p>
        </p:txBody>
      </p:sp>
      <p:cxnSp>
        <p:nvCxnSpPr>
          <p:cNvPr id="18" name="Düz Ok Bağlayıcısı 17">
            <a:extLst>
              <a:ext uri="{FF2B5EF4-FFF2-40B4-BE49-F238E27FC236}">
                <a16:creationId xmlns:a16="http://schemas.microsoft.com/office/drawing/2014/main" id="{0F3A5BFA-D4A7-48D0-8941-B9804DCDF520}"/>
              </a:ext>
            </a:extLst>
          </p:cNvPr>
          <p:cNvCxnSpPr>
            <a:stCxn id="13" idx="3"/>
          </p:cNvCxnSpPr>
          <p:nvPr/>
        </p:nvCxnSpPr>
        <p:spPr>
          <a:xfrm flipV="1">
            <a:off x="3986457" y="4656907"/>
            <a:ext cx="5671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Düz Ok Bağlayıcısı 18">
            <a:extLst>
              <a:ext uri="{FF2B5EF4-FFF2-40B4-BE49-F238E27FC236}">
                <a16:creationId xmlns:a16="http://schemas.microsoft.com/office/drawing/2014/main" id="{AA661983-B513-4CEC-1AFB-414471BCF661}"/>
              </a:ext>
            </a:extLst>
          </p:cNvPr>
          <p:cNvCxnSpPr/>
          <p:nvPr/>
        </p:nvCxnSpPr>
        <p:spPr>
          <a:xfrm flipV="1">
            <a:off x="3986456" y="5466836"/>
            <a:ext cx="5671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28D8B2C9-F518-B23E-54BF-8E09A7244CA0}"/>
              </a:ext>
            </a:extLst>
          </p:cNvPr>
          <p:cNvSpPr txBox="1"/>
          <p:nvPr/>
        </p:nvSpPr>
        <p:spPr>
          <a:xfrm>
            <a:off x="4616597" y="4472241"/>
            <a:ext cx="1210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«metehan»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2A164FC1-5A1C-6568-FC81-899BACCC159D}"/>
              </a:ext>
            </a:extLst>
          </p:cNvPr>
          <p:cNvSpPr txBox="1"/>
          <p:nvPr/>
        </p:nvSpPr>
        <p:spPr>
          <a:xfrm>
            <a:off x="4616597" y="5258398"/>
            <a:ext cx="1210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«metehan»</a:t>
            </a:r>
          </a:p>
        </p:txBody>
      </p:sp>
      <p:cxnSp>
        <p:nvCxnSpPr>
          <p:cNvPr id="23" name="Düz Ok Bağlayıcısı 22">
            <a:extLst>
              <a:ext uri="{FF2B5EF4-FFF2-40B4-BE49-F238E27FC236}">
                <a16:creationId xmlns:a16="http://schemas.microsoft.com/office/drawing/2014/main" id="{689E6D8F-45DD-1E57-C136-AFA0A14A7DFA}"/>
              </a:ext>
            </a:extLst>
          </p:cNvPr>
          <p:cNvCxnSpPr>
            <a:stCxn id="15" idx="3"/>
          </p:cNvCxnSpPr>
          <p:nvPr/>
        </p:nvCxnSpPr>
        <p:spPr>
          <a:xfrm>
            <a:off x="6855125" y="4656908"/>
            <a:ext cx="437071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Düz Ok Bağlayıcısı 24">
            <a:extLst>
              <a:ext uri="{FF2B5EF4-FFF2-40B4-BE49-F238E27FC236}">
                <a16:creationId xmlns:a16="http://schemas.microsoft.com/office/drawing/2014/main" id="{86229651-AF2A-FDEF-973E-3FCB1CE7E6D6}"/>
              </a:ext>
            </a:extLst>
          </p:cNvPr>
          <p:cNvCxnSpPr>
            <a:stCxn id="14" idx="3"/>
          </p:cNvCxnSpPr>
          <p:nvPr/>
        </p:nvCxnSpPr>
        <p:spPr>
          <a:xfrm flipV="1">
            <a:off x="6864657" y="5152845"/>
            <a:ext cx="416080" cy="251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FC96AC3E-3A85-99FF-E90C-AD6A6C4E69C4}"/>
              </a:ext>
            </a:extLst>
          </p:cNvPr>
          <p:cNvSpPr txBox="1"/>
          <p:nvPr/>
        </p:nvSpPr>
        <p:spPr>
          <a:xfrm>
            <a:off x="7288257" y="4881793"/>
            <a:ext cx="1210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«metehan»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652F735E-ECE0-9148-0733-C0DCBC2519B7}"/>
              </a:ext>
            </a:extLst>
          </p:cNvPr>
          <p:cNvSpPr txBox="1"/>
          <p:nvPr/>
        </p:nvSpPr>
        <p:spPr>
          <a:xfrm>
            <a:off x="4094672" y="5830925"/>
            <a:ext cx="132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C mantığı</a:t>
            </a:r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65C90439-9C80-6B4A-907D-942E1595B274}"/>
              </a:ext>
            </a:extLst>
          </p:cNvPr>
          <p:cNvSpPr txBox="1"/>
          <p:nvPr/>
        </p:nvSpPr>
        <p:spPr>
          <a:xfrm>
            <a:off x="6676845" y="5837208"/>
            <a:ext cx="1633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Python mantığı</a:t>
            </a:r>
          </a:p>
        </p:txBody>
      </p:sp>
    </p:spTree>
    <p:extLst>
      <p:ext uri="{BB962C8B-B14F-4D97-AF65-F5344CB8AC3E}">
        <p14:creationId xmlns:p14="http://schemas.microsoft.com/office/powerpoint/2010/main" val="214544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20" grpId="0"/>
      <p:bldP spid="21" grpId="0"/>
      <p:bldP spid="26" grpId="0"/>
      <p:bldP spid="27" grpId="0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72C52A-D5B1-FE8F-0675-892B8258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Mutable</a:t>
            </a:r>
            <a:r>
              <a:rPr lang="tr-TR" dirty="0"/>
              <a:t> ve </a:t>
            </a:r>
            <a:r>
              <a:rPr lang="tr-TR" dirty="0" err="1"/>
              <a:t>Immutable</a:t>
            </a:r>
            <a:r>
              <a:rPr lang="tr-TR" dirty="0"/>
              <a:t> Objeler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62C5C44-D205-D5B6-AD1B-813EEE205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3"/>
            <a:ext cx="11029615" cy="401967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6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Mutable</a:t>
            </a:r>
            <a:r>
              <a:rPr lang="tr-T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(Değiştirilebilir) Nesneler: 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Liste, sözlük, set.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Mutable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nesnelerin içeriği (örneğin, elemanları) oluşturulduktan sonra değiştirilebilir.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Elemanlar eklenebilir, silinebilir veya değiştirilebilir.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Bellekte aynı nesne üzerinde işlem yapılır; yeni bir nesne oluşturulmaz.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6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Immutable</a:t>
            </a:r>
            <a:r>
              <a:rPr lang="tr-T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(Değiştirilemez) Nesneler: </a:t>
            </a:r>
            <a:r>
              <a:rPr lang="tr-TR" sz="1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tr-TR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tr-TR" sz="1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tuple</a:t>
            </a:r>
            <a:r>
              <a:rPr lang="tr-TR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tr-TR" sz="1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integer</a:t>
            </a:r>
            <a:r>
              <a:rPr lang="tr-TR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tr-TR" sz="1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float</a:t>
            </a:r>
            <a:r>
              <a:rPr lang="tr-TR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tr-TR" sz="1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boolean</a:t>
            </a:r>
            <a:r>
              <a:rPr lang="tr-TR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tr-T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Immutable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nesnelerin içeriği, oluşturulduktan sonra değiştirilemez.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Eleman ekleme, silme veya değiştirme işlemleri yapılamaz.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Yeni bir değer atandığında, bellekte yeni bir nesne oluşturulur.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B8C27B7-CC66-F77F-0667-D34ACA096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059" y="3538253"/>
            <a:ext cx="4181163" cy="192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8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8F46D6F-E82B-3BD3-821A-2313D815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Expression</a:t>
            </a:r>
            <a:r>
              <a:rPr lang="tr-TR" dirty="0"/>
              <a:t> ve Statement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1335658-B1F6-3E94-44C8-A7CE669F0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1327"/>
            <a:ext cx="11029615" cy="4577751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Python'da </a:t>
            </a:r>
            <a:r>
              <a:rPr lang="tr-TR" sz="2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expression</a:t>
            </a: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(ifadeler) ve </a:t>
            </a:r>
            <a:r>
              <a:rPr lang="tr-TR" sz="2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statement</a:t>
            </a: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(deyimler) arasındaki fark, bir programın yapı taşlarını anlamak için önemlidir.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2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Expressions</a:t>
            </a:r>
            <a:r>
              <a:rPr lang="tr-TR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(İfadeler)</a:t>
            </a:r>
            <a:endParaRPr lang="tr-TR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Expression</a:t>
            </a: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operatörlerin, değişkenlerin ve değerlerin bir bileşimidir (işlem).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Yorumlayıcı bu ifadeyi değerlendirir ve bir sonuç döndürür.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 + 12    # Bu bir </a:t>
            </a:r>
            <a:r>
              <a:rPr lang="tr-TR" sz="2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expression'dır</a:t>
            </a: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 * 25    # Sonucu hesaplanır.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2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Statements</a:t>
            </a:r>
            <a:r>
              <a:rPr lang="tr-TR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(Deyimler)</a:t>
            </a:r>
            <a:endParaRPr lang="tr-TR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Statement, bir değişken yaratmak veya bir eylemi gerçekleştirmek için kullanılır (atama, çıktı verme vb.).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Yorumlayıcı bu deyimi çalıştırır.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 = 17     # Bu bir </a:t>
            </a:r>
            <a:r>
              <a:rPr lang="tr-TR" sz="2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statement'tır</a:t>
            </a: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(atama işlemi).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print</a:t>
            </a: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(n)   # Bu da bir </a:t>
            </a:r>
            <a:r>
              <a:rPr lang="tr-TR" sz="2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statement'tır</a:t>
            </a:r>
            <a:r>
              <a:rPr lang="tr-T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(ekrana çıktı verme).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204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E2F36A-7035-E2D6-DE4D-730E45129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Namespace</a:t>
            </a:r>
            <a:r>
              <a:rPr lang="tr-TR" dirty="0"/>
              <a:t> (İsim Alanı)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AA09FC6-A24A-A93E-E7D1-6D837B66E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5785488" cy="3916635"/>
          </a:xfrm>
        </p:spPr>
        <p:txBody>
          <a:bodyPr>
            <a:normAutofit/>
          </a:bodyPr>
          <a:lstStyle/>
          <a:p>
            <a:r>
              <a:rPr lang="tr-TR" sz="1800" dirty="0"/>
              <a:t>Bir </a:t>
            </a:r>
            <a:r>
              <a:rPr lang="tr-TR" sz="1800" b="1" dirty="0" err="1"/>
              <a:t>namespace</a:t>
            </a:r>
            <a:r>
              <a:rPr lang="tr-TR" sz="1800" dirty="0"/>
              <a:t>, Python'da bir isimden (örneğin, bir değişkenin adı) bir nesneye (örneğin, değer, fonksiyon, sınıf) yapılan eşlemeyi ifade eder. Başka bir deyişle, değişken isimlerinin, fonksiyonların veya sınıfların benzersiz tutulduğu bir alan olarak düşünülebilir.</a:t>
            </a:r>
          </a:p>
          <a:p>
            <a:r>
              <a:rPr lang="tr-TR" altLang="tr-TR" sz="1800" b="1" dirty="0"/>
              <a:t>a = 5 </a:t>
            </a:r>
            <a:r>
              <a:rPr lang="tr-TR" altLang="tr-TR" sz="1800" dirty="0"/>
              <a:t>ifadesi yazıldığında Python, bellekte bir </a:t>
            </a:r>
            <a:r>
              <a:rPr lang="tr-TR" altLang="tr-TR" sz="1800" dirty="0" err="1"/>
              <a:t>integer</a:t>
            </a:r>
            <a:r>
              <a:rPr lang="tr-TR" altLang="tr-TR" sz="1800" dirty="0"/>
              <a:t> (tam sayı) nesnesi oluşturur ve bu nesneyi a adlı bir değişkene bağlar. 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AA5DD2E-7735-D54B-E5BE-909EF12D7912}"/>
              </a:ext>
            </a:extLst>
          </p:cNvPr>
          <p:cNvSpPr/>
          <p:nvPr/>
        </p:nvSpPr>
        <p:spPr>
          <a:xfrm>
            <a:off x="6546850" y="2571750"/>
            <a:ext cx="5063957" cy="26289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4C30B23A-50FA-013D-D414-ACF7876A7AA5}"/>
              </a:ext>
            </a:extLst>
          </p:cNvPr>
          <p:cNvSpPr/>
          <p:nvPr/>
        </p:nvSpPr>
        <p:spPr>
          <a:xfrm>
            <a:off x="7397750" y="3429000"/>
            <a:ext cx="4213057" cy="17716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D96C08F0-A1A5-3E2B-E8BE-0155B3198AB1}"/>
              </a:ext>
            </a:extLst>
          </p:cNvPr>
          <p:cNvSpPr/>
          <p:nvPr/>
        </p:nvSpPr>
        <p:spPr>
          <a:xfrm>
            <a:off x="8280400" y="4171950"/>
            <a:ext cx="3330407" cy="1028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4D183A30-5641-9C78-849A-5BC76552EA54}"/>
              </a:ext>
            </a:extLst>
          </p:cNvPr>
          <p:cNvSpPr txBox="1"/>
          <p:nvPr/>
        </p:nvSpPr>
        <p:spPr>
          <a:xfrm>
            <a:off x="8562807" y="4424690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 err="1"/>
              <a:t>Local</a:t>
            </a:r>
            <a:r>
              <a:rPr lang="tr-TR" sz="2800" dirty="0"/>
              <a:t> </a:t>
            </a:r>
            <a:r>
              <a:rPr lang="tr-TR" sz="2800" dirty="0" err="1"/>
              <a:t>Namespace</a:t>
            </a:r>
            <a:endParaRPr lang="tr-TR" sz="2800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FAA9EDB6-3804-7CB2-6B55-FA39CF7E4048}"/>
              </a:ext>
            </a:extLst>
          </p:cNvPr>
          <p:cNvSpPr txBox="1"/>
          <p:nvPr/>
        </p:nvSpPr>
        <p:spPr>
          <a:xfrm>
            <a:off x="7915107" y="3561033"/>
            <a:ext cx="3695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Global </a:t>
            </a:r>
            <a:r>
              <a:rPr lang="tr-TR" sz="2800" dirty="0" err="1"/>
              <a:t>Namespace</a:t>
            </a:r>
            <a:endParaRPr lang="tr-TR" sz="2800" dirty="0"/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AD3A40CE-294B-6BBE-C1B9-FC63D86D8F3F}"/>
              </a:ext>
            </a:extLst>
          </p:cNvPr>
          <p:cNvSpPr txBox="1"/>
          <p:nvPr/>
        </p:nvSpPr>
        <p:spPr>
          <a:xfrm>
            <a:off x="7397750" y="2748126"/>
            <a:ext cx="3695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 err="1"/>
              <a:t>Built-In</a:t>
            </a:r>
            <a:r>
              <a:rPr lang="tr-TR" sz="2800" dirty="0"/>
              <a:t> </a:t>
            </a:r>
            <a:r>
              <a:rPr lang="tr-TR" sz="2800" dirty="0" err="1"/>
              <a:t>Namespace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93474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CD362F-C19E-A0CD-F848-B08729BE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Scope</a:t>
            </a:r>
            <a:r>
              <a:rPr lang="tr-TR" dirty="0"/>
              <a:t> (Kapsam)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7C56E9C-319C-2060-9C31-474386F16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990086"/>
          </a:xfrm>
        </p:spPr>
        <p:txBody>
          <a:bodyPr/>
          <a:lstStyle/>
          <a:p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</a:t>
            </a: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bir değişkene programın hangi bölümünden erişilebileceğini belirler. Python'da her değişkenin bir kapsamı vardır ve bu kapsam, değişkenin nerede tanımlandığına bağlıdır</a:t>
            </a:r>
            <a:r>
              <a:rPr lang="tr-TR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. Kapsamı değişken üzerinden yorumlarız.</a:t>
            </a:r>
          </a:p>
          <a:p>
            <a:pPr marR="0" lvl="0" fontAlgn="base">
              <a:tabLst/>
            </a:pPr>
            <a:r>
              <a:rPr lang="tr-TR" altLang="tr-TR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Bir fonksiyon içinde tanımlanan </a:t>
            </a:r>
            <a:r>
              <a:rPr lang="tr-TR" altLang="tr-TR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x = 5 </a:t>
            </a:r>
            <a:r>
              <a:rPr lang="tr-TR" altLang="tr-TR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ifadesi yazıldığında Python, önce bu değişkeni yerel kapsamda (</a:t>
            </a:r>
            <a:r>
              <a:rPr lang="tr-TR" altLang="tr-TR" sz="1800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local</a:t>
            </a:r>
            <a:r>
              <a:rPr lang="tr-TR" altLang="tr-TR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altLang="tr-TR" sz="1800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scope</a:t>
            </a:r>
            <a:r>
              <a:rPr lang="tr-TR" altLang="tr-TR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) arar. Eğer yerel kapsamda bulamazsa, daha geniş kapsam olan kapsayan (</a:t>
            </a:r>
            <a:r>
              <a:rPr lang="tr-TR" altLang="tr-TR" sz="1800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enclosing</a:t>
            </a:r>
            <a:r>
              <a:rPr lang="tr-TR" altLang="tr-TR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) veya küresel (global) kapsamlarda arar. Halen bulunamazsa yerleşik (</a:t>
            </a:r>
            <a:r>
              <a:rPr lang="tr-TR" altLang="tr-TR" sz="1800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built</a:t>
            </a:r>
            <a:r>
              <a:rPr lang="tr-TR" altLang="tr-TR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-in) kapsamda arama yapar.</a:t>
            </a:r>
          </a:p>
          <a:p>
            <a:pPr marR="0" lvl="0" fontAlgn="base">
              <a:tabLst/>
            </a:pPr>
            <a:r>
              <a:rPr lang="tr-TR" altLang="tr-TR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Python’da bu sistem, statik kapsam olarak adlandırılır. </a:t>
            </a:r>
          </a:p>
          <a:p>
            <a:pPr fontAlgn="base"/>
            <a:r>
              <a:rPr lang="tr-TR" sz="1800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İsimalanının</a:t>
            </a:r>
            <a:r>
              <a:rPr lang="tr-TR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yaşam süresi, objelerin kapsamına bağlıdır.</a:t>
            </a:r>
            <a:endParaRPr lang="tr-TR" altLang="tr-TR" sz="18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72FDE0-BEF1-5C5E-71BE-A61150671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2" y="5230296"/>
            <a:ext cx="113250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14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83358C-F1F0-DCD5-E46F-52836694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Scope</a:t>
            </a:r>
            <a:r>
              <a:rPr lang="tr-TR" dirty="0"/>
              <a:t> (Kapsam)</a:t>
            </a:r>
          </a:p>
        </p:txBody>
      </p:sp>
      <p:pic>
        <p:nvPicPr>
          <p:cNvPr id="9" name="İçerik Yer Tutucusu 8">
            <a:extLst>
              <a:ext uri="{FF2B5EF4-FFF2-40B4-BE49-F238E27FC236}">
                <a16:creationId xmlns:a16="http://schemas.microsoft.com/office/drawing/2014/main" id="{E1638417-1E39-2720-9964-D46DF2D7C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151063"/>
            <a:ext cx="6182276" cy="4414837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600CB55B-C2EC-E409-92C9-7DE28ED0B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157" y="3892864"/>
            <a:ext cx="4431543" cy="63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5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7BA36C0-A68B-2F5D-D3AE-C1AC9F04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Yorumlama ve Derleme Süreci</a:t>
            </a:r>
          </a:p>
        </p:txBody>
      </p:sp>
      <p:pic>
        <p:nvPicPr>
          <p:cNvPr id="4" name="İçerik Yer Tutucusu 3" descr="569x312">
            <a:extLst>
              <a:ext uri="{FF2B5EF4-FFF2-40B4-BE49-F238E27FC236}">
                <a16:creationId xmlns:a16="http://schemas.microsoft.com/office/drawing/2014/main" id="{0139CBF2-3D40-9556-FC82-F65D4FF30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52" y="2397940"/>
            <a:ext cx="6235190" cy="3418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Resim 4" descr="597x303">
            <a:extLst>
              <a:ext uri="{FF2B5EF4-FFF2-40B4-BE49-F238E27FC236}">
                <a16:creationId xmlns:a16="http://schemas.microsoft.com/office/drawing/2014/main" id="{E935453D-7B8E-C2EC-A3DA-589A7085F56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546"/>
                    </a14:imgEffect>
                    <a14:imgEffect>
                      <a14:saturation sat="25000"/>
                    </a14:imgEffect>
                    <a14:imgEffect>
                      <a14:brightnessContrast bright="17000" contras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72" t="7583" r="2572" b="7583"/>
          <a:stretch/>
        </p:blipFill>
        <p:spPr bwMode="auto">
          <a:xfrm>
            <a:off x="6827483" y="2566119"/>
            <a:ext cx="5053965" cy="25654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  <a:effectLst>
            <a:outerShdw blurRad="266700" dir="21120000" sx="99000" sy="99000" algn="ctr" rotWithShape="0">
              <a:srgbClr val="000000">
                <a:alpha val="77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552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D3F7A0-44BF-0D4F-7CA5-458FAFB32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69884"/>
            <a:ext cx="11029616" cy="1188720"/>
          </a:xfrm>
        </p:spPr>
        <p:txBody>
          <a:bodyPr/>
          <a:lstStyle/>
          <a:p>
            <a:r>
              <a:rPr lang="tr-TR" dirty="0"/>
              <a:t>Kodlama Ortamları ve Platformlar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67E08F-E38F-D50F-704E-F73B603C6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972575"/>
            <a:ext cx="8074504" cy="4807788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Yerel Ortamlar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Windows,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macOS</a:t>
            </a:r>
            <a:r>
              <a:rPr lang="tr-T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Linux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Çevrimiçi Ortamlar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Google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Colab</a:t>
            </a:r>
            <a:r>
              <a:rPr lang="tr-T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Replit</a:t>
            </a:r>
            <a:r>
              <a:rPr lang="tr-T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Jupyter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Notebook,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Kaggle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Kernels</a:t>
            </a:r>
            <a:endParaRPr lang="tr-T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Geliştirme Ortamları (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Integrated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Development 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Environments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</a:t>
            </a:r>
            <a:r>
              <a:rPr lang="tr-T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IDEs</a:t>
            </a: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tr-T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tr-T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PyCharm</a:t>
            </a:r>
            <a:r>
              <a:rPr lang="tr-T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Studio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Code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(VS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Code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Jupyter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Notebook,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Spyder</a:t>
            </a:r>
            <a:r>
              <a:rPr lang="tr-T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IDLE,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Thonny</a:t>
            </a:r>
            <a:endParaRPr lang="tr-T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Mobil Platformlar</a:t>
            </a:r>
            <a:endParaRPr lang="tr-T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tr-T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iOS ve Android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Bulut Tabanlı Ortamlar</a:t>
            </a:r>
            <a:endParaRPr lang="tr-T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tr-T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Amazon Web Services (AWS), Google Cloud Platform (GCP), Microsoft Azure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Gömülü Sistemler ve Donanımlar </a:t>
            </a:r>
            <a:endParaRPr lang="tr-T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tr-TR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tr-TR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Raspberry Pi, </a:t>
            </a:r>
            <a:r>
              <a:rPr lang="tr-T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MicroPython</a:t>
            </a:r>
            <a:endParaRPr lang="tr-T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0976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38344306-BB45-E7CB-8EF7-24B4FCDD9F2D}"/>
              </a:ext>
            </a:extLst>
          </p:cNvPr>
          <p:cNvSpPr txBox="1"/>
          <p:nvPr/>
        </p:nvSpPr>
        <p:spPr>
          <a:xfrm>
            <a:off x="4494361" y="3136612"/>
            <a:ext cx="3510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TEŞEKKÜRLER!</a:t>
            </a:r>
          </a:p>
        </p:txBody>
      </p:sp>
    </p:spTree>
    <p:extLst>
      <p:ext uri="{BB962C8B-B14F-4D97-AF65-F5344CB8AC3E}">
        <p14:creationId xmlns:p14="http://schemas.microsoft.com/office/powerpoint/2010/main" val="32829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08333E-7 0 L -2.08333E-7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Century School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1678</Words>
  <Application>Microsoft Office PowerPoint</Application>
  <PresentationFormat>Geniş ekran</PresentationFormat>
  <Paragraphs>156</Paragraphs>
  <Slides>23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10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34" baseType="lpstr">
      <vt:lpstr>Algerian</vt:lpstr>
      <vt:lpstr>Aptos</vt:lpstr>
      <vt:lpstr>Arial</vt:lpstr>
      <vt:lpstr>Century Schoolbook</vt:lpstr>
      <vt:lpstr>Courier New</vt:lpstr>
      <vt:lpstr>Franklin Gothic Book</vt:lpstr>
      <vt:lpstr>Neue Haas Grotesk Text Pro</vt:lpstr>
      <vt:lpstr>Symbol</vt:lpstr>
      <vt:lpstr>Times New Roman</vt:lpstr>
      <vt:lpstr>Wingdings 2</vt:lpstr>
      <vt:lpstr>DividendVTI</vt:lpstr>
      <vt:lpstr>PROGRAMLAMA DİLLERİNİN KAVRAMLARI</vt:lpstr>
      <vt:lpstr>Python Nedir?</vt:lpstr>
      <vt:lpstr>Python Nerelerde Kullanılır?</vt:lpstr>
      <vt:lpstr>Python'un Temel Özellikleri</vt:lpstr>
      <vt:lpstr>Python'un Tarihsel Gelişimi</vt:lpstr>
      <vt:lpstr>Python'un Tarihsel Gelişimi</vt:lpstr>
      <vt:lpstr>Önemli ÖzelliklerE Genel Bakış</vt:lpstr>
      <vt:lpstr>okunabilirlik ve sürdürülebilirliğe katkıda bulunan bazı özellikler</vt:lpstr>
      <vt:lpstr>Okunabilirlik</vt:lpstr>
      <vt:lpstr>Python’un Avantajları</vt:lpstr>
      <vt:lpstr>Python’un Dezavantajları</vt:lpstr>
      <vt:lpstr>Python’un Kategorilere Göre Sınıflandırılması</vt:lpstr>
      <vt:lpstr>Objects</vt:lpstr>
      <vt:lpstr>Objects and Values (Nesneler ve Değerler)</vt:lpstr>
      <vt:lpstr>Objects and Values (Nesneler ve Değerler)</vt:lpstr>
      <vt:lpstr>Mutable ve Immutable Objeler</vt:lpstr>
      <vt:lpstr>Expression ve Statement</vt:lpstr>
      <vt:lpstr>Namespace (İsim Alanı)</vt:lpstr>
      <vt:lpstr>Scope (Kapsam)</vt:lpstr>
      <vt:lpstr>Scope (Kapsam)</vt:lpstr>
      <vt:lpstr>Yorumlama ve Derleme Süreci</vt:lpstr>
      <vt:lpstr>Kodlama Ortamları ve Platformlar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Metehan Ayhan</dc:creator>
  <cp:lastModifiedBy>Metehan Ayhan</cp:lastModifiedBy>
  <cp:revision>5</cp:revision>
  <dcterms:created xsi:type="dcterms:W3CDTF">2024-12-14T15:07:51Z</dcterms:created>
  <dcterms:modified xsi:type="dcterms:W3CDTF">2024-12-15T12:16:25Z</dcterms:modified>
</cp:coreProperties>
</file>