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80" r:id="rId2"/>
    <p:sldId id="257" r:id="rId3"/>
    <p:sldId id="262" r:id="rId4"/>
    <p:sldId id="258" r:id="rId5"/>
    <p:sldId id="259" r:id="rId6"/>
    <p:sldId id="260" r:id="rId7"/>
    <p:sldId id="261" r:id="rId8"/>
    <p:sldId id="263" r:id="rId9"/>
    <p:sldId id="264" r:id="rId10"/>
    <p:sldId id="275" r:id="rId11"/>
    <p:sldId id="276" r:id="rId12"/>
    <p:sldId id="277" r:id="rId13"/>
    <p:sldId id="265" r:id="rId14"/>
    <p:sldId id="266" r:id="rId15"/>
    <p:sldId id="267" r:id="rId16"/>
    <p:sldId id="268" r:id="rId17"/>
    <p:sldId id="269" r:id="rId18"/>
    <p:sldId id="270" r:id="rId19"/>
    <p:sldId id="271" r:id="rId20"/>
    <p:sldId id="272" r:id="rId21"/>
    <p:sldId id="273" r:id="rId22"/>
    <p:sldId id="274"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40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7" name="Date Placeholder 6"/>
          <p:cNvSpPr>
            <a:spLocks noGrp="1"/>
          </p:cNvSpPr>
          <p:nvPr>
            <p:ph type="dt" sz="half" idx="10"/>
          </p:nvPr>
        </p:nvSpPr>
        <p:spPr/>
        <p:txBody>
          <a:bodyPr/>
          <a:lstStyle/>
          <a:p>
            <a:fld id="{E6F6DB10-FDB9-441F-8427-75C91317C916}" type="datetimeFigureOut">
              <a:rPr lang="tr-TR" smtClean="0"/>
              <a:t>5.01.2025</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758C4D06-9BD6-480B-BF95-BE4D5F1F51A3}" type="slidenum">
              <a:rPr lang="tr-TR" smtClean="0"/>
              <a:t>‹#›</a:t>
            </a:fld>
            <a:endParaRPr lang="tr-TR"/>
          </a:p>
        </p:txBody>
      </p:sp>
    </p:spTree>
    <p:extLst>
      <p:ext uri="{BB962C8B-B14F-4D97-AF65-F5344CB8AC3E}">
        <p14:creationId xmlns:p14="http://schemas.microsoft.com/office/powerpoint/2010/main" val="401181124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E6F6DB10-FDB9-441F-8427-75C91317C916}" type="datetimeFigureOut">
              <a:rPr lang="tr-TR" smtClean="0"/>
              <a:t>5.01.2025</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758C4D06-9BD6-480B-BF95-BE4D5F1F51A3}" type="slidenum">
              <a:rPr lang="tr-TR" smtClean="0"/>
              <a:t>‹#›</a:t>
            </a:fld>
            <a:endParaRPr lang="tr-TR"/>
          </a:p>
        </p:txBody>
      </p:sp>
    </p:spTree>
    <p:extLst>
      <p:ext uri="{BB962C8B-B14F-4D97-AF65-F5344CB8AC3E}">
        <p14:creationId xmlns:p14="http://schemas.microsoft.com/office/powerpoint/2010/main" val="26590426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7" name="Date Placeholder 6"/>
          <p:cNvSpPr>
            <a:spLocks noGrp="1"/>
          </p:cNvSpPr>
          <p:nvPr>
            <p:ph type="dt" sz="half" idx="10"/>
          </p:nvPr>
        </p:nvSpPr>
        <p:spPr/>
        <p:txBody>
          <a:bodyPr/>
          <a:lstStyle/>
          <a:p>
            <a:fld id="{E6F6DB10-FDB9-441F-8427-75C91317C916}" type="datetimeFigureOut">
              <a:rPr lang="tr-TR" smtClean="0"/>
              <a:t>5.01.2025</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758C4D06-9BD6-480B-BF95-BE4D5F1F51A3}" type="slidenum">
              <a:rPr lang="tr-TR" smtClean="0"/>
              <a:t>‹#›</a:t>
            </a:fld>
            <a:endParaRPr lang="tr-TR"/>
          </a:p>
        </p:txBody>
      </p:sp>
    </p:spTree>
    <p:extLst>
      <p:ext uri="{BB962C8B-B14F-4D97-AF65-F5344CB8AC3E}">
        <p14:creationId xmlns:p14="http://schemas.microsoft.com/office/powerpoint/2010/main" val="312444937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8" name="Date Placeholder 7"/>
          <p:cNvSpPr>
            <a:spLocks noGrp="1"/>
          </p:cNvSpPr>
          <p:nvPr>
            <p:ph type="dt" sz="half" idx="10"/>
          </p:nvPr>
        </p:nvSpPr>
        <p:spPr/>
        <p:txBody>
          <a:bodyPr/>
          <a:lstStyle/>
          <a:p>
            <a:fld id="{E6F6DB10-FDB9-441F-8427-75C91317C916}" type="datetimeFigureOut">
              <a:rPr lang="tr-TR" smtClean="0"/>
              <a:t>5.01.2025</a:t>
            </a:fld>
            <a:endParaRPr lang="tr-TR"/>
          </a:p>
        </p:txBody>
      </p:sp>
      <p:sp>
        <p:nvSpPr>
          <p:cNvPr id="9" name="Footer Placeholder 8"/>
          <p:cNvSpPr>
            <a:spLocks noGrp="1"/>
          </p:cNvSpPr>
          <p:nvPr>
            <p:ph type="ftr" sz="quarter" idx="11"/>
          </p:nvPr>
        </p:nvSpPr>
        <p:spPr/>
        <p:txBody>
          <a:bodyPr/>
          <a:lstStyle/>
          <a:p>
            <a:endParaRPr lang="tr-TR"/>
          </a:p>
        </p:txBody>
      </p:sp>
      <p:sp>
        <p:nvSpPr>
          <p:cNvPr id="10" name="Slide Number Placeholder 9"/>
          <p:cNvSpPr>
            <a:spLocks noGrp="1"/>
          </p:cNvSpPr>
          <p:nvPr>
            <p:ph type="sldNum" sz="quarter" idx="12"/>
          </p:nvPr>
        </p:nvSpPr>
        <p:spPr/>
        <p:txBody>
          <a:bodyPr/>
          <a:lstStyle/>
          <a:p>
            <a:fld id="{758C4D06-9BD6-480B-BF95-BE4D5F1F51A3}" type="slidenum">
              <a:rPr lang="tr-TR" smtClean="0"/>
              <a:t>‹#›</a:t>
            </a:fld>
            <a:endParaRPr lang="tr-TR"/>
          </a:p>
        </p:txBody>
      </p:sp>
    </p:spTree>
    <p:extLst>
      <p:ext uri="{BB962C8B-B14F-4D97-AF65-F5344CB8AC3E}">
        <p14:creationId xmlns:p14="http://schemas.microsoft.com/office/powerpoint/2010/main" val="481435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583436" y="3143250"/>
            <a:ext cx="4270248" cy="2596776"/>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7" name="Date Placeholder 6"/>
          <p:cNvSpPr>
            <a:spLocks noGrp="1"/>
          </p:cNvSpPr>
          <p:nvPr>
            <p:ph type="dt" sz="half" idx="10"/>
          </p:nvPr>
        </p:nvSpPr>
        <p:spPr/>
        <p:txBody>
          <a:bodyPr/>
          <a:lstStyle/>
          <a:p>
            <a:fld id="{E6F6DB10-FDB9-441F-8427-75C91317C916}" type="datetimeFigureOut">
              <a:rPr lang="tr-TR" smtClean="0"/>
              <a:t>5.01.2025</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758C4D06-9BD6-480B-BF95-BE4D5F1F51A3}" type="slidenum">
              <a:rPr lang="tr-TR" smtClean="0"/>
              <a:t>‹#›</a:t>
            </a:fld>
            <a:endParaRPr lang="tr-TR"/>
          </a:p>
        </p:txBody>
      </p:sp>
      <p:sp>
        <p:nvSpPr>
          <p:cNvPr id="10" name="Title 9"/>
          <p:cNvSpPr>
            <a:spLocks noGrp="1"/>
          </p:cNvSpPr>
          <p:nvPr>
            <p:ph type="title"/>
          </p:nvPr>
        </p:nvSpPr>
        <p:spPr/>
        <p:txBody>
          <a:bodyPr/>
          <a:lstStyle/>
          <a:p>
            <a:r>
              <a:rPr lang="tr-TR"/>
              <a:t>Asıl başlık stilini düzenlemek için tıklayın</a:t>
            </a:r>
            <a:endParaRPr lang="en-US" dirty="0"/>
          </a:p>
        </p:txBody>
      </p:sp>
    </p:spTree>
    <p:extLst>
      <p:ext uri="{BB962C8B-B14F-4D97-AF65-F5344CB8AC3E}">
        <p14:creationId xmlns:p14="http://schemas.microsoft.com/office/powerpoint/2010/main" val="3817503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E6F6DB10-FDB9-441F-8427-75C91317C916}" type="datetimeFigureOut">
              <a:rPr lang="tr-TR" smtClean="0"/>
              <a:t>5.01.2025</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758C4D06-9BD6-480B-BF95-BE4D5F1F51A3}" type="slidenum">
              <a:rPr lang="tr-TR" smtClean="0"/>
              <a:t>‹#›</a:t>
            </a:fld>
            <a:endParaRPr lang="tr-TR"/>
          </a:p>
        </p:txBody>
      </p:sp>
    </p:spTree>
    <p:extLst>
      <p:ext uri="{BB962C8B-B14F-4D97-AF65-F5344CB8AC3E}">
        <p14:creationId xmlns:p14="http://schemas.microsoft.com/office/powerpoint/2010/main" val="1826780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F6DB10-FDB9-441F-8427-75C91317C916}" type="datetimeFigureOut">
              <a:rPr lang="tr-TR" smtClean="0"/>
              <a:t>5.01.2025</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758C4D06-9BD6-480B-BF95-BE4D5F1F51A3}" type="slidenum">
              <a:rPr lang="tr-TR" smtClean="0"/>
              <a:t>‹#›</a:t>
            </a:fld>
            <a:endParaRPr lang="tr-TR"/>
          </a:p>
        </p:txBody>
      </p:sp>
    </p:spTree>
    <p:extLst>
      <p:ext uri="{BB962C8B-B14F-4D97-AF65-F5344CB8AC3E}">
        <p14:creationId xmlns:p14="http://schemas.microsoft.com/office/powerpoint/2010/main" val="2708084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tr-TR"/>
              <a:t>Asıl başlık stilini düzenlemek için tıklayın</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9" name="Date Placeholder 8"/>
          <p:cNvSpPr>
            <a:spLocks noGrp="1"/>
          </p:cNvSpPr>
          <p:nvPr>
            <p:ph type="dt" sz="half" idx="10"/>
          </p:nvPr>
        </p:nvSpPr>
        <p:spPr/>
        <p:txBody>
          <a:bodyPr/>
          <a:lstStyle/>
          <a:p>
            <a:fld id="{E6F6DB10-FDB9-441F-8427-75C91317C916}" type="datetimeFigureOut">
              <a:rPr lang="tr-TR" smtClean="0"/>
              <a:t>5.01.2025</a:t>
            </a:fld>
            <a:endParaRPr lang="tr-TR"/>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tr-TR"/>
          </a:p>
        </p:txBody>
      </p:sp>
      <p:sp>
        <p:nvSpPr>
          <p:cNvPr id="11" name="Slide Number Placeholder 10"/>
          <p:cNvSpPr>
            <a:spLocks noGrp="1"/>
          </p:cNvSpPr>
          <p:nvPr>
            <p:ph type="sldNum" sz="quarter" idx="12"/>
          </p:nvPr>
        </p:nvSpPr>
        <p:spPr/>
        <p:txBody>
          <a:bodyPr/>
          <a:lstStyle/>
          <a:p>
            <a:fld id="{758C4D06-9BD6-480B-BF95-BE4D5F1F51A3}" type="slidenum">
              <a:rPr lang="tr-TR" smtClean="0"/>
              <a:t>‹#›</a:t>
            </a:fld>
            <a:endParaRPr lang="tr-TR"/>
          </a:p>
        </p:txBody>
      </p:sp>
    </p:spTree>
    <p:extLst>
      <p:ext uri="{BB962C8B-B14F-4D97-AF65-F5344CB8AC3E}">
        <p14:creationId xmlns:p14="http://schemas.microsoft.com/office/powerpoint/2010/main" val="3291098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E6F6DB10-FDB9-441F-8427-75C91317C916}" type="datetimeFigureOut">
              <a:rPr lang="tr-TR" smtClean="0"/>
              <a:t>5.01.2025</a:t>
            </a:fld>
            <a:endParaRPr lang="tr-TR"/>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tr-TR"/>
          </a:p>
        </p:txBody>
      </p:sp>
      <p:sp>
        <p:nvSpPr>
          <p:cNvPr id="10" name="Slide Number Placeholder 9"/>
          <p:cNvSpPr>
            <a:spLocks noGrp="1"/>
          </p:cNvSpPr>
          <p:nvPr>
            <p:ph type="sldNum" sz="quarter" idx="12"/>
          </p:nvPr>
        </p:nvSpPr>
        <p:spPr/>
        <p:txBody>
          <a:bodyPr/>
          <a:lstStyle/>
          <a:p>
            <a:fld id="{758C4D06-9BD6-480B-BF95-BE4D5F1F51A3}" type="slidenum">
              <a:rPr lang="tr-TR" smtClean="0"/>
              <a:t>‹#›</a:t>
            </a:fld>
            <a:endParaRPr lang="tr-TR"/>
          </a:p>
        </p:txBody>
      </p:sp>
    </p:spTree>
    <p:extLst>
      <p:ext uri="{BB962C8B-B14F-4D97-AF65-F5344CB8AC3E}">
        <p14:creationId xmlns:p14="http://schemas.microsoft.com/office/powerpoint/2010/main" val="1854901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E6F6DB10-FDB9-441F-8427-75C91317C916}" type="datetimeFigureOut">
              <a:rPr lang="tr-TR" smtClean="0"/>
              <a:t>5.01.2025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758C4D06-9BD6-480B-BF95-BE4D5F1F51A3}" type="slidenum">
              <a:rPr lang="tr-TR" smtClean="0"/>
              <a:t>‹#›</a:t>
            </a:fld>
            <a:endParaRPr lang="tr-TR"/>
          </a:p>
        </p:txBody>
      </p:sp>
    </p:spTree>
    <p:extLst>
      <p:ext uri="{BB962C8B-B14F-4D97-AF65-F5344CB8AC3E}">
        <p14:creationId xmlns:p14="http://schemas.microsoft.com/office/powerpoint/2010/main" val="1358360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E6F6DB10-FDB9-441F-8427-75C91317C916}" type="datetimeFigureOut">
              <a:rPr lang="tr-TR" smtClean="0"/>
              <a:t>5.01.2025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758C4D06-9BD6-480B-BF95-BE4D5F1F51A3}" type="slidenum">
              <a:rPr lang="tr-TR" smtClean="0"/>
              <a:t>‹#›</a:t>
            </a:fld>
            <a:endParaRPr lang="tr-TR"/>
          </a:p>
        </p:txBody>
      </p:sp>
    </p:spTree>
    <p:extLst>
      <p:ext uri="{BB962C8B-B14F-4D97-AF65-F5344CB8AC3E}">
        <p14:creationId xmlns:p14="http://schemas.microsoft.com/office/powerpoint/2010/main" val="2581657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E6F6DB10-FDB9-441F-8427-75C91317C916}" type="datetimeFigureOut">
              <a:rPr lang="tr-TR" smtClean="0"/>
              <a:t>5.01.2025</a:t>
            </a:fld>
            <a:endParaRPr lang="tr-TR"/>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tr-TR"/>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758C4D06-9BD6-480B-BF95-BE4D5F1F51A3}" type="slidenum">
              <a:rPr lang="tr-TR" smtClean="0"/>
              <a:t>‹#›</a:t>
            </a:fld>
            <a:endParaRPr lang="tr-TR"/>
          </a:p>
        </p:txBody>
      </p:sp>
    </p:spTree>
    <p:extLst>
      <p:ext uri="{BB962C8B-B14F-4D97-AF65-F5344CB8AC3E}">
        <p14:creationId xmlns:p14="http://schemas.microsoft.com/office/powerpoint/2010/main" val="10244135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rs-ojict.pubpub.org/pub/fch9opwb/release/1"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hyperlink" Target="https://stackoverflow.com/questions/43237124/role-of-flatten-in-keras"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Metin kutusu 4">
            <a:extLst>
              <a:ext uri="{FF2B5EF4-FFF2-40B4-BE49-F238E27FC236}">
                <a16:creationId xmlns:a16="http://schemas.microsoft.com/office/drawing/2014/main" id="{F1A39D29-C5BC-A4A5-3B91-A3471150A6A5}"/>
              </a:ext>
            </a:extLst>
          </p:cNvPr>
          <p:cNvSpPr txBox="1"/>
          <p:nvPr/>
        </p:nvSpPr>
        <p:spPr>
          <a:xfrm>
            <a:off x="965198" y="2474895"/>
            <a:ext cx="6212764" cy="1908215"/>
          </a:xfrm>
          <a:prstGeom prst="rect">
            <a:avLst/>
          </a:prstGeom>
          <a:noFill/>
          <a:ln>
            <a:solidFill>
              <a:schemeClr val="tx1"/>
            </a:solidFill>
          </a:ln>
        </p:spPr>
        <p:txBody>
          <a:bodyPr vert="horz" wrap="square" lIns="274320" tIns="182880" rIns="274320" bIns="182880" rtlCol="0" anchor="ctr" anchorCtr="1">
            <a:normAutofit/>
          </a:bodyPr>
          <a:lstStyle/>
          <a:p>
            <a:pPr algn="ctr" defTabSz="914400">
              <a:lnSpc>
                <a:spcPct val="90000"/>
              </a:lnSpc>
              <a:spcBef>
                <a:spcPct val="0"/>
              </a:spcBef>
              <a:spcAft>
                <a:spcPts val="600"/>
              </a:spcAft>
            </a:pPr>
            <a:r>
              <a:rPr lang="en-US" sz="3700" kern="1200" cap="all" spc="200" baseline="0">
                <a:latin typeface="+mj-lt"/>
                <a:ea typeface="+mj-ea"/>
                <a:cs typeface="+mj-cs"/>
              </a:rPr>
              <a:t>Convolutional Neural Networks (CNN)</a:t>
            </a:r>
          </a:p>
        </p:txBody>
      </p:sp>
      <p:sp>
        <p:nvSpPr>
          <p:cNvPr id="10" name="Rectangle 9">
            <a:extLst>
              <a:ext uri="{FF2B5EF4-FFF2-40B4-BE49-F238E27FC236}">
                <a16:creationId xmlns:a16="http://schemas.microsoft.com/office/drawing/2014/main" id="{157A82F3-F6C4-4325-8C9C-7DF1AD06B2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9872" y="0"/>
            <a:ext cx="4062128"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lt Başlık 2">
            <a:extLst>
              <a:ext uri="{FF2B5EF4-FFF2-40B4-BE49-F238E27FC236}">
                <a16:creationId xmlns:a16="http://schemas.microsoft.com/office/drawing/2014/main" id="{D9478B8E-5894-54A1-2604-BC07B707BC9A}"/>
              </a:ext>
            </a:extLst>
          </p:cNvPr>
          <p:cNvSpPr txBox="1">
            <a:spLocks/>
          </p:cNvSpPr>
          <p:nvPr/>
        </p:nvSpPr>
        <p:spPr>
          <a:xfrm>
            <a:off x="8533732" y="2173266"/>
            <a:ext cx="3254408" cy="2511468"/>
          </a:xfrm>
          <a:prstGeom prst="rect">
            <a:avLst/>
          </a:prstGeom>
        </p:spPr>
        <p:txBody>
          <a:bodyPr vert="horz" lIns="91440" tIns="45720" rIns="91440" bIns="45720" rtlCol="0" anchor="ct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lgn="ctr">
              <a:buNone/>
            </a:pPr>
            <a:r>
              <a:rPr lang="en-US" sz="2400">
                <a:solidFill>
                  <a:schemeClr val="tx2">
                    <a:lumMod val="90000"/>
                  </a:schemeClr>
                </a:solidFill>
              </a:rPr>
              <a:t>METEHAN AYHAN</a:t>
            </a:r>
          </a:p>
        </p:txBody>
      </p:sp>
    </p:spTree>
    <p:extLst>
      <p:ext uri="{BB962C8B-B14F-4D97-AF65-F5344CB8AC3E}">
        <p14:creationId xmlns:p14="http://schemas.microsoft.com/office/powerpoint/2010/main" val="282866851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055B6686-CB85-464D-54A1-DF2C09AB1969}"/>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tr-TR" sz="3000">
                <a:solidFill>
                  <a:srgbClr val="FFFFFF"/>
                </a:solidFill>
              </a:rPr>
              <a:t>CNN Nedir?</a:t>
            </a:r>
          </a:p>
        </p:txBody>
      </p:sp>
      <p:sp>
        <p:nvSpPr>
          <p:cNvPr id="3" name="İçerik Yer Tutucusu 2">
            <a:extLst>
              <a:ext uri="{FF2B5EF4-FFF2-40B4-BE49-F238E27FC236}">
                <a16:creationId xmlns:a16="http://schemas.microsoft.com/office/drawing/2014/main" id="{4233095C-3870-CA18-7A08-ABC6D924C145}"/>
              </a:ext>
            </a:extLst>
          </p:cNvPr>
          <p:cNvSpPr>
            <a:spLocks noGrp="1"/>
          </p:cNvSpPr>
          <p:nvPr>
            <p:ph idx="1"/>
          </p:nvPr>
        </p:nvSpPr>
        <p:spPr>
          <a:xfrm>
            <a:off x="5753881" y="0"/>
            <a:ext cx="5320696" cy="4053840"/>
          </a:xfrm>
        </p:spPr>
        <p:txBody>
          <a:bodyPr anchor="ctr">
            <a:normAutofit/>
          </a:bodyPr>
          <a:lstStyle/>
          <a:p>
            <a:r>
              <a:rPr lang="tr-TR" dirty="0"/>
              <a:t>CNN, yapay sinir ağlarının özel bir türüdür. Geleneksel yapay sinir ağlarından farkı, özellikle görüntü verileriyle ilgili </a:t>
            </a:r>
            <a:r>
              <a:rPr lang="tr-TR" b="1" dirty="0"/>
              <a:t>uzaysal ilişkileri öğrenme yeteneği</a:t>
            </a:r>
            <a:r>
              <a:rPr lang="tr-TR" dirty="0"/>
              <a:t> ile ilgilidir. Bu yetenek, CNN'leri görsel veri üzerinde çok daha etkili kılar. Temel olarak CNN, bir görüntüyü alır ve bu görüntüyü temsil eden özellikleri çıkararak sınıflandırma veya tahmin yapar.</a:t>
            </a:r>
          </a:p>
        </p:txBody>
      </p:sp>
      <p:sp>
        <p:nvSpPr>
          <p:cNvPr id="7" name="Metin kutusu 6">
            <a:extLst>
              <a:ext uri="{FF2B5EF4-FFF2-40B4-BE49-F238E27FC236}">
                <a16:creationId xmlns:a16="http://schemas.microsoft.com/office/drawing/2014/main" id="{F47E7877-D6C1-B7D0-54ED-0024D07B1170}"/>
              </a:ext>
            </a:extLst>
          </p:cNvPr>
          <p:cNvSpPr txBox="1"/>
          <p:nvPr/>
        </p:nvSpPr>
        <p:spPr>
          <a:xfrm>
            <a:off x="5900468" y="3150038"/>
            <a:ext cx="5320696" cy="2031325"/>
          </a:xfrm>
          <a:prstGeom prst="rect">
            <a:avLst/>
          </a:prstGeom>
          <a:noFill/>
        </p:spPr>
        <p:txBody>
          <a:bodyPr wrap="square">
            <a:spAutoFit/>
          </a:bodyPr>
          <a:lstStyle/>
          <a:p>
            <a:r>
              <a:rPr lang="tr-TR" b="1" dirty="0"/>
              <a:t>Konvolüsyon (</a:t>
            </a:r>
            <a:r>
              <a:rPr lang="tr-TR" b="1" dirty="0" err="1"/>
              <a:t>Convolution</a:t>
            </a:r>
            <a:r>
              <a:rPr lang="tr-TR" b="1" dirty="0"/>
              <a:t>)</a:t>
            </a:r>
            <a:r>
              <a:rPr lang="tr-TR" dirty="0"/>
              <a:t>, matematik ve sinyal işleme gibi alanlarda kullanılan bir matematiksel operasyondur. Görüntü işleme ve derin öğrenme alanlarında ise genellikle bir matris (giriş görüntüsü) üzerinde bir filtre (</a:t>
            </a:r>
            <a:r>
              <a:rPr lang="tr-TR" dirty="0" err="1"/>
              <a:t>kernel</a:t>
            </a:r>
            <a:r>
              <a:rPr lang="tr-TR" dirty="0"/>
              <a:t>) kaydırılarak yapılan bir işlem olarak tanımlanır. Bu işlem, yerel özellikleri algılamak ve anlamak için kullanılır.</a:t>
            </a:r>
          </a:p>
        </p:txBody>
      </p:sp>
      <p:sp>
        <p:nvSpPr>
          <p:cNvPr id="14" name="Metin kutusu 13">
            <a:extLst>
              <a:ext uri="{FF2B5EF4-FFF2-40B4-BE49-F238E27FC236}">
                <a16:creationId xmlns:a16="http://schemas.microsoft.com/office/drawing/2014/main" id="{30629687-3D11-EACB-B735-71DD79481103}"/>
              </a:ext>
            </a:extLst>
          </p:cNvPr>
          <p:cNvSpPr txBox="1"/>
          <p:nvPr/>
        </p:nvSpPr>
        <p:spPr>
          <a:xfrm>
            <a:off x="6452558" y="5271516"/>
            <a:ext cx="3732363" cy="1200329"/>
          </a:xfrm>
          <a:prstGeom prst="rect">
            <a:avLst/>
          </a:prstGeom>
          <a:noFill/>
        </p:spPr>
        <p:txBody>
          <a:bodyPr wrap="square">
            <a:spAutoFit/>
          </a:bodyPr>
          <a:lstStyle/>
          <a:p>
            <a:r>
              <a:rPr lang="tr-TR" dirty="0"/>
              <a:t>Y(</a:t>
            </a:r>
            <a:r>
              <a:rPr lang="tr-TR" dirty="0" err="1"/>
              <a:t>i,j</a:t>
            </a:r>
            <a:r>
              <a:rPr lang="tr-TR" dirty="0"/>
              <a:t>)= m∑​  n∑​ X(</a:t>
            </a:r>
            <a:r>
              <a:rPr lang="tr-TR" dirty="0" err="1"/>
              <a:t>i+m,j+n</a:t>
            </a:r>
            <a:r>
              <a:rPr lang="tr-TR" dirty="0"/>
              <a:t>)⋅K(</a:t>
            </a:r>
            <a:r>
              <a:rPr lang="tr-TR" dirty="0" err="1"/>
              <a:t>m,n</a:t>
            </a:r>
            <a:r>
              <a:rPr lang="tr-TR" dirty="0"/>
              <a:t>)</a:t>
            </a:r>
          </a:p>
          <a:p>
            <a:r>
              <a:rPr lang="tr-TR" dirty="0"/>
              <a:t>𝑋(𝑖,𝑗): Giriş görüntüsü (matris).</a:t>
            </a:r>
          </a:p>
          <a:p>
            <a:r>
              <a:rPr lang="tr-TR" dirty="0"/>
              <a:t>𝐾(𝑚,𝑛): Filtre (</a:t>
            </a:r>
            <a:r>
              <a:rPr lang="tr-TR" dirty="0" err="1"/>
              <a:t>kernel</a:t>
            </a:r>
            <a:r>
              <a:rPr lang="tr-TR" dirty="0"/>
              <a:t>) matrisi.</a:t>
            </a:r>
          </a:p>
          <a:p>
            <a:r>
              <a:rPr lang="tr-TR" dirty="0"/>
              <a:t>𝑌(𝑖,𝑗): Çıktı matrisi (özellik haritası).</a:t>
            </a:r>
          </a:p>
        </p:txBody>
      </p:sp>
    </p:spTree>
    <p:extLst>
      <p:ext uri="{BB962C8B-B14F-4D97-AF65-F5344CB8AC3E}">
        <p14:creationId xmlns:p14="http://schemas.microsoft.com/office/powerpoint/2010/main" val="3121083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4" name="Resim 3" descr="metin, diyagram, ekran görüntüsü, çizgi içeren bir resim&#10;&#10;Açıklama otomatik olarak oluşturuldu">
            <a:extLst>
              <a:ext uri="{FF2B5EF4-FFF2-40B4-BE49-F238E27FC236}">
                <a16:creationId xmlns:a16="http://schemas.microsoft.com/office/drawing/2014/main" id="{6EA69BFD-9ACF-E540-0E0F-EE5FFD5A438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24" b="-2"/>
          <a:stretch/>
        </p:blipFill>
        <p:spPr>
          <a:xfrm>
            <a:off x="20" y="10"/>
            <a:ext cx="12191980" cy="6857990"/>
          </a:xfrm>
          <a:prstGeom prst="rect">
            <a:avLst/>
          </a:prstGeom>
        </p:spPr>
      </p:pic>
    </p:spTree>
    <p:extLst>
      <p:ext uri="{BB962C8B-B14F-4D97-AF65-F5344CB8AC3E}">
        <p14:creationId xmlns:p14="http://schemas.microsoft.com/office/powerpoint/2010/main" val="1131993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29B8D83-7D09-F06F-3EC9-DAF5DD87108A}"/>
              </a:ext>
            </a:extLst>
          </p:cNvPr>
          <p:cNvSpPr>
            <a:spLocks noGrp="1"/>
          </p:cNvSpPr>
          <p:nvPr>
            <p:ph type="title"/>
          </p:nvPr>
        </p:nvSpPr>
        <p:spPr/>
        <p:txBody>
          <a:bodyPr/>
          <a:lstStyle/>
          <a:p>
            <a:r>
              <a:rPr lang="tr-TR" dirty="0"/>
              <a:t>CNN'nin Yapısı ve Temel Bileşenleri</a:t>
            </a:r>
          </a:p>
        </p:txBody>
      </p:sp>
      <p:sp>
        <p:nvSpPr>
          <p:cNvPr id="3" name="İçerik Yer Tutucusu 2">
            <a:extLst>
              <a:ext uri="{FF2B5EF4-FFF2-40B4-BE49-F238E27FC236}">
                <a16:creationId xmlns:a16="http://schemas.microsoft.com/office/drawing/2014/main" id="{8CE6C02D-3D1A-3125-1FDE-40433D48C85D}"/>
              </a:ext>
            </a:extLst>
          </p:cNvPr>
          <p:cNvSpPr>
            <a:spLocks noGrp="1"/>
          </p:cNvSpPr>
          <p:nvPr>
            <p:ph idx="1"/>
          </p:nvPr>
        </p:nvSpPr>
        <p:spPr/>
        <p:txBody>
          <a:bodyPr/>
          <a:lstStyle/>
          <a:p>
            <a:r>
              <a:rPr lang="tr-TR" dirty="0"/>
              <a:t>CNN'nin temel bileşenleri, bir görüntüyü işlemek ve nihai sınıflandırma yapmak için ardışık olarak çalışır. Bu bileşenler:</a:t>
            </a:r>
          </a:p>
          <a:p>
            <a:r>
              <a:rPr lang="tr-TR" b="1" dirty="0"/>
              <a:t>Giriş Katmanı</a:t>
            </a:r>
          </a:p>
          <a:p>
            <a:pPr>
              <a:buFont typeface="Arial" panose="020B0604020202020204" pitchFamily="34" charset="0"/>
              <a:buChar char="•"/>
            </a:pPr>
            <a:r>
              <a:rPr lang="tr-TR" b="1" dirty="0"/>
              <a:t>Amaç</a:t>
            </a:r>
            <a:r>
              <a:rPr lang="tr-TR" dirty="0"/>
              <a:t>: Görüntüyü modelin işleyebileceği bir forma sokmak.</a:t>
            </a:r>
          </a:p>
          <a:p>
            <a:pPr>
              <a:buFont typeface="Arial" panose="020B0604020202020204" pitchFamily="34" charset="0"/>
              <a:buChar char="•"/>
            </a:pPr>
            <a:r>
              <a:rPr lang="tr-TR" dirty="0"/>
              <a:t>CNN giriş olarak genellikle normalize edilmiş ve yeniden boyutlandırılmış bir görüntü alır.</a:t>
            </a:r>
          </a:p>
          <a:p>
            <a:pPr>
              <a:buFont typeface="Arial" panose="020B0604020202020204" pitchFamily="34" charset="0"/>
              <a:buChar char="•"/>
            </a:pPr>
            <a:r>
              <a:rPr lang="tr-TR" dirty="0"/>
              <a:t>Giriş, genellikle üç boyutludur: </a:t>
            </a:r>
            <a:r>
              <a:rPr lang="tr-TR" b="1" dirty="0"/>
              <a:t>Genişlik x Yükseklik x Kanal Sayısı</a:t>
            </a:r>
            <a:r>
              <a:rPr lang="tr-TR" dirty="0"/>
              <a:t> (örneğin, bir RGB görüntü için 170x170x3).</a:t>
            </a:r>
          </a:p>
          <a:p>
            <a:endParaRPr lang="tr-TR" dirty="0"/>
          </a:p>
        </p:txBody>
      </p:sp>
    </p:spTree>
    <p:extLst>
      <p:ext uri="{BB962C8B-B14F-4D97-AF65-F5344CB8AC3E}">
        <p14:creationId xmlns:p14="http://schemas.microsoft.com/office/powerpoint/2010/main" val="385942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1EB4A98B-45D2-8DB5-2ED1-AF4A34E66BCA}"/>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tr-TR" sz="1400" b="1">
                <a:solidFill>
                  <a:srgbClr val="FFFFFF"/>
                </a:solidFill>
              </a:rPr>
              <a:t>Convolutional Katman (Konvolüsyon Katmanı)</a:t>
            </a:r>
            <a:br>
              <a:rPr lang="tr-TR" sz="1400" b="1">
                <a:solidFill>
                  <a:srgbClr val="FFFFFF"/>
                </a:solidFill>
              </a:rPr>
            </a:br>
            <a:endParaRPr lang="tr-TR" sz="1400">
              <a:solidFill>
                <a:srgbClr val="FFFFFF"/>
              </a:solidFill>
            </a:endParaRPr>
          </a:p>
        </p:txBody>
      </p:sp>
      <p:sp>
        <p:nvSpPr>
          <p:cNvPr id="3" name="İçerik Yer Tutucusu 2">
            <a:extLst>
              <a:ext uri="{FF2B5EF4-FFF2-40B4-BE49-F238E27FC236}">
                <a16:creationId xmlns:a16="http://schemas.microsoft.com/office/drawing/2014/main" id="{004D599D-5F00-8B27-9F1F-C672B7F18D5F}"/>
              </a:ext>
            </a:extLst>
          </p:cNvPr>
          <p:cNvSpPr>
            <a:spLocks noGrp="1"/>
          </p:cNvSpPr>
          <p:nvPr>
            <p:ph idx="1"/>
          </p:nvPr>
        </p:nvSpPr>
        <p:spPr>
          <a:xfrm>
            <a:off x="5591695" y="1402080"/>
            <a:ext cx="5320696" cy="4053840"/>
          </a:xfrm>
        </p:spPr>
        <p:txBody>
          <a:bodyPr anchor="ctr">
            <a:normAutofit/>
          </a:bodyPr>
          <a:lstStyle/>
          <a:p>
            <a:pPr>
              <a:lnSpc>
                <a:spcPct val="90000"/>
              </a:lnSpc>
              <a:buFont typeface="Arial" panose="020B0604020202020204" pitchFamily="34" charset="0"/>
              <a:buChar char="•"/>
            </a:pPr>
            <a:r>
              <a:rPr lang="tr-TR" sz="1300" dirty="0"/>
              <a:t>CNN'nin temel taşıdır. Bu katman, görüntüyü </a:t>
            </a:r>
            <a:r>
              <a:rPr lang="tr-TR" sz="1300" b="1" dirty="0"/>
              <a:t>filtreler (</a:t>
            </a:r>
            <a:r>
              <a:rPr lang="tr-TR" sz="1300" b="1" dirty="0" err="1"/>
              <a:t>kernels</a:t>
            </a:r>
            <a:r>
              <a:rPr lang="tr-TR" sz="1300" b="1" dirty="0"/>
              <a:t>)</a:t>
            </a:r>
            <a:r>
              <a:rPr lang="tr-TR" sz="1300" dirty="0"/>
              <a:t> kullanarak işler.</a:t>
            </a:r>
          </a:p>
          <a:p>
            <a:pPr>
              <a:lnSpc>
                <a:spcPct val="90000"/>
              </a:lnSpc>
              <a:buFont typeface="Arial" panose="020B0604020202020204" pitchFamily="34" charset="0"/>
              <a:buChar char="•"/>
            </a:pPr>
            <a:r>
              <a:rPr lang="tr-TR" sz="1300" dirty="0"/>
              <a:t>Filtreler, görüntünün </a:t>
            </a:r>
            <a:r>
              <a:rPr lang="tr-TR" sz="1300" b="1" dirty="0"/>
              <a:t>yerel özelliklerini</a:t>
            </a:r>
            <a:r>
              <a:rPr lang="tr-TR" sz="1300" dirty="0"/>
              <a:t> (kenarlar, dokular, desenler gibi) algılar ve bu özellikleri </a:t>
            </a:r>
            <a:r>
              <a:rPr lang="tr-TR" sz="1300" b="1" dirty="0"/>
              <a:t>özellik haritaları</a:t>
            </a:r>
            <a:r>
              <a:rPr lang="tr-TR" sz="1300" dirty="0"/>
              <a:t> (</a:t>
            </a:r>
            <a:r>
              <a:rPr lang="tr-TR" sz="1300" dirty="0" err="1"/>
              <a:t>feature</a:t>
            </a:r>
            <a:r>
              <a:rPr lang="tr-TR" sz="1300" dirty="0"/>
              <a:t> </a:t>
            </a:r>
            <a:r>
              <a:rPr lang="tr-TR" sz="1300" dirty="0" err="1"/>
              <a:t>maps</a:t>
            </a:r>
            <a:r>
              <a:rPr lang="tr-TR" sz="1300" dirty="0"/>
              <a:t>) olarak çıkarır.</a:t>
            </a:r>
          </a:p>
          <a:p>
            <a:pPr>
              <a:lnSpc>
                <a:spcPct val="90000"/>
              </a:lnSpc>
              <a:buFont typeface="Arial" panose="020B0604020202020204" pitchFamily="34" charset="0"/>
              <a:buChar char="•"/>
            </a:pPr>
            <a:r>
              <a:rPr lang="tr-TR" sz="1300" dirty="0"/>
              <a:t>Görüntü üzerine bir filtre kaydırılır, her konumda piksel değerleri filtreyle çarpılır ve sonuç toplanır.</a:t>
            </a:r>
          </a:p>
          <a:p>
            <a:pPr>
              <a:lnSpc>
                <a:spcPct val="90000"/>
              </a:lnSpc>
              <a:buFont typeface="Arial" panose="020B0604020202020204" pitchFamily="34" charset="0"/>
              <a:buChar char="•"/>
            </a:pPr>
            <a:r>
              <a:rPr lang="tr-TR" sz="1300" b="1" dirty="0"/>
              <a:t>Matematiksel Tanım</a:t>
            </a:r>
            <a:r>
              <a:rPr lang="tr-TR" sz="1300" dirty="0"/>
              <a:t>: Z[</a:t>
            </a:r>
            <a:r>
              <a:rPr lang="tr-TR" sz="1300" dirty="0" err="1"/>
              <a:t>i,j</a:t>
            </a:r>
            <a:r>
              <a:rPr lang="tr-TR" sz="1300" dirty="0"/>
              <a:t>]=</a:t>
            </a:r>
            <a:r>
              <a:rPr lang="tr-TR" sz="1300" dirty="0" err="1"/>
              <a:t>ReLU</a:t>
            </a:r>
            <a:r>
              <a:rPr lang="tr-TR" sz="1300" dirty="0"/>
              <a:t>(</a:t>
            </a:r>
            <a:r>
              <a:rPr lang="tr-TR" sz="1300" dirty="0" err="1"/>
              <a:t>m,n</a:t>
            </a:r>
            <a:r>
              <a:rPr lang="tr-TR" sz="1300" dirty="0"/>
              <a:t>∑​W[</a:t>
            </a:r>
            <a:r>
              <a:rPr lang="tr-TR" sz="1300" dirty="0" err="1"/>
              <a:t>m,n</a:t>
            </a:r>
            <a:r>
              <a:rPr lang="tr-TR" sz="1300" dirty="0"/>
              <a:t>]⋅X[</a:t>
            </a:r>
            <a:r>
              <a:rPr lang="tr-TR" sz="1300" dirty="0" err="1"/>
              <a:t>i+m,j+n</a:t>
            </a:r>
            <a:r>
              <a:rPr lang="tr-TR" sz="1300" dirty="0"/>
              <a:t>]+b)</a:t>
            </a:r>
          </a:p>
          <a:p>
            <a:pPr marL="742950" lvl="1" indent="-285750">
              <a:lnSpc>
                <a:spcPct val="90000"/>
              </a:lnSpc>
              <a:buFont typeface="Arial" panose="020B0604020202020204" pitchFamily="34" charset="0"/>
              <a:buChar char="•"/>
            </a:pPr>
            <a:r>
              <a:rPr lang="tr-TR" sz="1300" dirty="0"/>
              <a:t>Z[</a:t>
            </a:r>
            <a:r>
              <a:rPr lang="tr-TR" sz="1300" dirty="0" err="1"/>
              <a:t>i,j</a:t>
            </a:r>
            <a:r>
              <a:rPr lang="tr-TR" sz="1300" dirty="0"/>
              <a:t>]: Özellik haritasındaki piksel değeri.</a:t>
            </a:r>
          </a:p>
          <a:p>
            <a:pPr marL="742950" lvl="1" indent="-285750">
              <a:lnSpc>
                <a:spcPct val="90000"/>
              </a:lnSpc>
              <a:buFont typeface="Arial" panose="020B0604020202020204" pitchFamily="34" charset="0"/>
              <a:buChar char="•"/>
            </a:pPr>
            <a:r>
              <a:rPr lang="tr-TR" sz="1300" dirty="0"/>
              <a:t>W[</a:t>
            </a:r>
            <a:r>
              <a:rPr lang="tr-TR" sz="1300" dirty="0" err="1"/>
              <a:t>m,n</a:t>
            </a:r>
            <a:r>
              <a:rPr lang="tr-TR" sz="1300" dirty="0"/>
              <a:t>]: Filtre değerleri.</a:t>
            </a:r>
          </a:p>
          <a:p>
            <a:pPr marL="742950" lvl="1" indent="-285750">
              <a:lnSpc>
                <a:spcPct val="90000"/>
              </a:lnSpc>
              <a:buFont typeface="Arial" panose="020B0604020202020204" pitchFamily="34" charset="0"/>
              <a:buChar char="•"/>
            </a:pPr>
            <a:r>
              <a:rPr lang="tr-TR" sz="1300" dirty="0"/>
              <a:t>X[</a:t>
            </a:r>
            <a:r>
              <a:rPr lang="tr-TR" sz="1300" dirty="0" err="1"/>
              <a:t>i+m,j+n</a:t>
            </a:r>
            <a:r>
              <a:rPr lang="tr-TR" sz="1300" dirty="0"/>
              <a:t>]: Giriş görüntüsünden bir bölge.</a:t>
            </a:r>
          </a:p>
          <a:p>
            <a:pPr marL="742950" lvl="1" indent="-285750">
              <a:lnSpc>
                <a:spcPct val="90000"/>
              </a:lnSpc>
              <a:buFont typeface="Arial" panose="020B0604020202020204" pitchFamily="34" charset="0"/>
              <a:buChar char="•"/>
            </a:pPr>
            <a:r>
              <a:rPr lang="tr-TR" sz="1300" dirty="0"/>
              <a:t>b: </a:t>
            </a:r>
            <a:r>
              <a:rPr lang="tr-TR" sz="1300" dirty="0" err="1"/>
              <a:t>Bias</a:t>
            </a:r>
            <a:r>
              <a:rPr lang="tr-TR" sz="1300" dirty="0"/>
              <a:t> değeri.</a:t>
            </a:r>
          </a:p>
          <a:p>
            <a:pPr marL="742950" lvl="1" indent="-285750">
              <a:lnSpc>
                <a:spcPct val="90000"/>
              </a:lnSpc>
              <a:buFont typeface="Arial" panose="020B0604020202020204" pitchFamily="34" charset="0"/>
              <a:buChar char="•"/>
            </a:pPr>
            <a:r>
              <a:rPr lang="tr-TR" sz="1300" dirty="0" err="1"/>
              <a:t>ReLU</a:t>
            </a:r>
            <a:r>
              <a:rPr lang="tr-TR" sz="1300" dirty="0"/>
              <a:t>: Negatif değerleri sıfıra indirerek doğrusal </a:t>
            </a:r>
            <a:r>
              <a:rPr lang="tr-TR" sz="1300" dirty="0" err="1"/>
              <a:t>olmayanlık</a:t>
            </a:r>
            <a:r>
              <a:rPr lang="tr-TR" sz="1300" dirty="0"/>
              <a:t> katar.</a:t>
            </a:r>
          </a:p>
          <a:p>
            <a:pPr>
              <a:lnSpc>
                <a:spcPct val="90000"/>
              </a:lnSpc>
              <a:buFont typeface="Arial" panose="020B0604020202020204" pitchFamily="34" charset="0"/>
              <a:buChar char="•"/>
            </a:pPr>
            <a:r>
              <a:rPr lang="tr-TR" sz="1300" b="1" dirty="0"/>
              <a:t>Amaç</a:t>
            </a:r>
            <a:r>
              <a:rPr lang="tr-TR" sz="1300" dirty="0"/>
              <a:t>: Görüntüden belirli özellikleri (örneğin kenarlar) çıkarmak.</a:t>
            </a:r>
          </a:p>
          <a:p>
            <a:pPr>
              <a:lnSpc>
                <a:spcPct val="90000"/>
              </a:lnSpc>
            </a:pPr>
            <a:endParaRPr lang="tr-TR" sz="1300" dirty="0"/>
          </a:p>
        </p:txBody>
      </p:sp>
    </p:spTree>
    <p:extLst>
      <p:ext uri="{BB962C8B-B14F-4D97-AF65-F5344CB8AC3E}">
        <p14:creationId xmlns:p14="http://schemas.microsoft.com/office/powerpoint/2010/main" val="25275655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9B8752C-221D-CB14-1AA4-82AFAD3B28EA}"/>
              </a:ext>
            </a:extLst>
          </p:cNvPr>
          <p:cNvSpPr>
            <a:spLocks noGrp="1"/>
          </p:cNvSpPr>
          <p:nvPr>
            <p:ph type="title"/>
          </p:nvPr>
        </p:nvSpPr>
        <p:spPr>
          <a:xfrm>
            <a:off x="5445496" y="978776"/>
            <a:ext cx="5925310" cy="1174991"/>
          </a:xfrm>
        </p:spPr>
        <p:txBody>
          <a:bodyPr>
            <a:normAutofit/>
          </a:bodyPr>
          <a:lstStyle/>
          <a:p>
            <a:r>
              <a:rPr lang="tr-TR" sz="2400"/>
              <a:t>Pooling Katmanı (Havuzlama Katmanı)</a:t>
            </a:r>
          </a:p>
        </p:txBody>
      </p:sp>
      <p:pic>
        <p:nvPicPr>
          <p:cNvPr id="6" name="Picture 5" descr="Yazı tahtası üzerinde karmaşık matematik formülleri">
            <a:extLst>
              <a:ext uri="{FF2B5EF4-FFF2-40B4-BE49-F238E27FC236}">
                <a16:creationId xmlns:a16="http://schemas.microsoft.com/office/drawing/2014/main" id="{F8A036CF-21E9-ABFF-FC1F-791BC878A4FE}"/>
              </a:ext>
            </a:extLst>
          </p:cNvPr>
          <p:cNvPicPr>
            <a:picLocks noChangeAspect="1"/>
          </p:cNvPicPr>
          <p:nvPr/>
        </p:nvPicPr>
        <p:blipFill>
          <a:blip r:embed="rId2"/>
          <a:srcRect l="32174" r="18250" b="-1"/>
          <a:stretch/>
        </p:blipFill>
        <p:spPr>
          <a:xfrm>
            <a:off x="20" y="10"/>
            <a:ext cx="4657325" cy="6857990"/>
          </a:xfrm>
          <a:prstGeom prst="rect">
            <a:avLst/>
          </a:prstGeom>
        </p:spPr>
      </p:pic>
      <p:sp>
        <p:nvSpPr>
          <p:cNvPr id="4" name="Rectangle 1">
            <a:extLst>
              <a:ext uri="{FF2B5EF4-FFF2-40B4-BE49-F238E27FC236}">
                <a16:creationId xmlns:a16="http://schemas.microsoft.com/office/drawing/2014/main" id="{453CF87F-DC60-6791-A7EF-9E0C0EE9E5AD}"/>
              </a:ext>
            </a:extLst>
          </p:cNvPr>
          <p:cNvSpPr>
            <a:spLocks noGrp="1" noChangeArrowheads="1"/>
          </p:cNvSpPr>
          <p:nvPr>
            <p:ph idx="1"/>
          </p:nvPr>
        </p:nvSpPr>
        <p:spPr bwMode="auto">
          <a:xfrm>
            <a:off x="5445496" y="2640692"/>
            <a:ext cx="5925310" cy="325525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90000"/>
              </a:lnSpc>
              <a:spcBef>
                <a:spcPct val="0"/>
              </a:spcBef>
              <a:spcAft>
                <a:spcPts val="600"/>
              </a:spcAft>
              <a:buClrTx/>
              <a:buSzTx/>
              <a:buFontTx/>
              <a:buNone/>
              <a:tabLst/>
            </a:pPr>
            <a:endParaRPr kumimoji="0" lang="tr-TR" altLang="tr-TR" sz="13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lnSpc>
                <a:spcPct val="90000"/>
              </a:lnSpc>
              <a:spcBef>
                <a:spcPct val="0"/>
              </a:spcBef>
              <a:spcAft>
                <a:spcPts val="600"/>
              </a:spcAft>
              <a:buClrTx/>
              <a:buSzTx/>
              <a:buFontTx/>
              <a:buChar char="•"/>
              <a:tabLst/>
            </a:pPr>
            <a:r>
              <a:rPr kumimoji="0" lang="tr-TR" altLang="tr-TR" sz="1300" b="0" i="0" u="none" strike="noStrike" cap="none" normalizeH="0" baseline="0" dirty="0">
                <a:ln>
                  <a:noFill/>
                </a:ln>
                <a:effectLst/>
                <a:latin typeface="Arial" panose="020B0604020202020204" pitchFamily="34" charset="0"/>
              </a:rPr>
              <a:t>Özellik haritalarını boyut olarak küçültür ve yalnızca önemli bilgileri korur.</a:t>
            </a:r>
          </a:p>
          <a:p>
            <a:pPr marL="0" marR="0" lvl="0" indent="0" defTabSz="914400" rtl="0" eaLnBrk="0" fontAlgn="base" latinLnBrk="0" hangingPunct="0">
              <a:lnSpc>
                <a:spcPct val="90000"/>
              </a:lnSpc>
              <a:spcBef>
                <a:spcPct val="0"/>
              </a:spcBef>
              <a:spcAft>
                <a:spcPts val="600"/>
              </a:spcAft>
              <a:buClrTx/>
              <a:buSzTx/>
              <a:buFontTx/>
              <a:buChar char="•"/>
              <a:tabLst/>
            </a:pPr>
            <a:r>
              <a:rPr kumimoji="0" lang="tr-TR" altLang="tr-TR" sz="1300" b="0" i="0" u="none" strike="noStrike" cap="none" normalizeH="0" baseline="0" dirty="0">
                <a:ln>
                  <a:noFill/>
                </a:ln>
                <a:effectLst/>
                <a:latin typeface="Arial" panose="020B0604020202020204" pitchFamily="34" charset="0"/>
              </a:rPr>
              <a:t>Havuzlama işlemi, modelin genel görsel özellikleri öğrenmesine olanak tanır.</a:t>
            </a:r>
          </a:p>
          <a:p>
            <a:pPr marL="0" marR="0" lvl="0" indent="0" defTabSz="914400" rtl="0" eaLnBrk="0" fontAlgn="base" latinLnBrk="0" hangingPunct="0">
              <a:lnSpc>
                <a:spcPct val="90000"/>
              </a:lnSpc>
              <a:spcBef>
                <a:spcPct val="0"/>
              </a:spcBef>
              <a:spcAft>
                <a:spcPts val="600"/>
              </a:spcAft>
              <a:buClrTx/>
              <a:buSzTx/>
              <a:buFontTx/>
              <a:buChar char="•"/>
              <a:tabLst/>
            </a:pPr>
            <a:r>
              <a:rPr kumimoji="0" lang="tr-TR" altLang="tr-TR" sz="1300" b="0" i="0" u="none" strike="noStrike" cap="none" normalizeH="0" baseline="0" dirty="0">
                <a:ln>
                  <a:noFill/>
                </a:ln>
                <a:effectLst/>
                <a:latin typeface="Arial" panose="020B0604020202020204" pitchFamily="34" charset="0"/>
              </a:rPr>
              <a:t>En yaygın kullanılan havuzlama yöntemi </a:t>
            </a:r>
            <a:r>
              <a:rPr kumimoji="0" lang="tr-TR" altLang="tr-TR" sz="1300" b="1" i="0" u="none" strike="noStrike" cap="none" normalizeH="0" baseline="0" dirty="0">
                <a:ln>
                  <a:noFill/>
                </a:ln>
                <a:effectLst/>
                <a:latin typeface="Arial" panose="020B0604020202020204" pitchFamily="34" charset="0"/>
              </a:rPr>
              <a:t>maksimum havuzlama (</a:t>
            </a:r>
            <a:r>
              <a:rPr kumimoji="0" lang="tr-TR" altLang="tr-TR" sz="1300" b="1" i="0" u="none" strike="noStrike" cap="none" normalizeH="0" baseline="0" dirty="0" err="1">
                <a:ln>
                  <a:noFill/>
                </a:ln>
                <a:effectLst/>
                <a:latin typeface="Arial" panose="020B0604020202020204" pitchFamily="34" charset="0"/>
              </a:rPr>
              <a:t>MaxPooling</a:t>
            </a:r>
            <a:r>
              <a:rPr kumimoji="0" lang="tr-TR" altLang="tr-TR" sz="1300" b="1" i="0" u="none" strike="noStrike" cap="none" normalizeH="0" baseline="0" dirty="0">
                <a:ln>
                  <a:noFill/>
                </a:ln>
                <a:effectLst/>
                <a:latin typeface="Arial" panose="020B0604020202020204" pitchFamily="34" charset="0"/>
              </a:rPr>
              <a:t>)</a:t>
            </a:r>
            <a:r>
              <a:rPr kumimoji="0" lang="tr-TR" altLang="tr-TR" sz="1300" b="0" i="0" u="none" strike="noStrike" cap="none" normalizeH="0" baseline="0" dirty="0">
                <a:ln>
                  <a:noFill/>
                </a:ln>
                <a:effectLst/>
                <a:latin typeface="Arial" panose="020B0604020202020204" pitchFamily="34" charset="0"/>
              </a:rPr>
              <a:t>'</a:t>
            </a:r>
            <a:r>
              <a:rPr kumimoji="0" lang="tr-TR" altLang="tr-TR" sz="1300" b="0" i="0" u="none" strike="noStrike" cap="none" normalizeH="0" baseline="0" dirty="0" err="1">
                <a:ln>
                  <a:noFill/>
                </a:ln>
                <a:effectLst/>
                <a:latin typeface="Arial" panose="020B0604020202020204" pitchFamily="34" charset="0"/>
              </a:rPr>
              <a:t>dır</a:t>
            </a:r>
            <a:r>
              <a:rPr kumimoji="0" lang="tr-TR" altLang="tr-TR" sz="1300" b="0" i="0" u="none" strike="noStrike" cap="none" normalizeH="0" baseline="0" dirty="0">
                <a:ln>
                  <a:noFill/>
                </a:ln>
                <a:effectLst/>
                <a:latin typeface="Arial" panose="020B0604020202020204" pitchFamily="34" charset="0"/>
              </a:rPr>
              <a:t>.</a:t>
            </a:r>
          </a:p>
          <a:p>
            <a:pPr marL="0" marR="0" lvl="0" indent="0" defTabSz="914400" rtl="0" eaLnBrk="0" fontAlgn="base" latinLnBrk="0" hangingPunct="0">
              <a:lnSpc>
                <a:spcPct val="90000"/>
              </a:lnSpc>
              <a:spcBef>
                <a:spcPct val="0"/>
              </a:spcBef>
              <a:spcAft>
                <a:spcPts val="600"/>
              </a:spcAft>
              <a:buClrTx/>
              <a:buSzTx/>
              <a:buNone/>
              <a:tabLst/>
            </a:pPr>
            <a:r>
              <a:rPr kumimoji="0" lang="tr-TR" altLang="tr-TR" sz="1300" b="1" i="0" u="none" strike="noStrike" cap="none" normalizeH="0" baseline="0" dirty="0">
                <a:ln>
                  <a:noFill/>
                </a:ln>
                <a:effectLst/>
                <a:latin typeface="Arial" panose="020B0604020202020204" pitchFamily="34" charset="0"/>
              </a:rPr>
              <a:t>Matematiksel Tanım</a:t>
            </a:r>
            <a:r>
              <a:rPr kumimoji="0" lang="tr-TR" altLang="tr-TR" sz="1300" b="0" i="0" u="none" strike="noStrike" cap="none" normalizeH="0" baseline="0" dirty="0">
                <a:ln>
                  <a:noFill/>
                </a:ln>
                <a:effectLst/>
                <a:latin typeface="Arial" panose="020B0604020202020204" pitchFamily="34" charset="0"/>
              </a:rPr>
              <a:t>: Y[</a:t>
            </a:r>
            <a:r>
              <a:rPr kumimoji="0" lang="tr-TR" altLang="tr-TR" sz="1300" b="0" i="0" u="none" strike="noStrike" cap="none" normalizeH="0" baseline="0" dirty="0" err="1">
                <a:ln>
                  <a:noFill/>
                </a:ln>
                <a:effectLst/>
                <a:latin typeface="Arial" panose="020B0604020202020204" pitchFamily="34" charset="0"/>
              </a:rPr>
              <a:t>i,j</a:t>
            </a:r>
            <a:r>
              <a:rPr kumimoji="0" lang="tr-TR" altLang="tr-TR" sz="1300" b="0" i="0" u="none" strike="noStrike" cap="none" normalizeH="0" baseline="0" dirty="0">
                <a:ln>
                  <a:noFill/>
                </a:ln>
                <a:effectLst/>
                <a:latin typeface="Arial" panose="020B0604020202020204" pitchFamily="34" charset="0"/>
              </a:rPr>
              <a:t>]=</a:t>
            </a:r>
            <a:r>
              <a:rPr kumimoji="0" lang="tr-TR" altLang="tr-TR" sz="1300" b="0" i="0" u="none" strike="noStrike" cap="none" normalizeH="0" baseline="0" dirty="0" err="1">
                <a:ln>
                  <a:noFill/>
                </a:ln>
                <a:effectLst/>
                <a:latin typeface="Arial" panose="020B0604020202020204" pitchFamily="34" charset="0"/>
              </a:rPr>
              <a:t>max</a:t>
            </a:r>
            <a:r>
              <a:rPr kumimoji="0" lang="tr-TR" altLang="tr-TR" sz="1300" b="0" i="0" u="none" strike="noStrike" cap="none" normalizeH="0" baseline="0" dirty="0">
                <a:ln>
                  <a:noFill/>
                </a:ln>
                <a:effectLst/>
                <a:latin typeface="Arial" panose="020B0604020202020204" pitchFamily="34" charset="0"/>
              </a:rPr>
              <a:t>⁡(X[i:i+2,j:j+2]) Her 2x2 bölgedeki maksimum değer seçilir.</a:t>
            </a:r>
          </a:p>
          <a:p>
            <a:pPr marL="0" marR="0" lvl="0" indent="0" defTabSz="914400" rtl="0" eaLnBrk="0" fontAlgn="base" latinLnBrk="0" hangingPunct="0">
              <a:lnSpc>
                <a:spcPct val="90000"/>
              </a:lnSpc>
              <a:spcBef>
                <a:spcPct val="0"/>
              </a:spcBef>
              <a:spcAft>
                <a:spcPts val="600"/>
              </a:spcAft>
              <a:buClrTx/>
              <a:buSzTx/>
              <a:buNone/>
              <a:tabLst/>
            </a:pPr>
            <a:r>
              <a:rPr kumimoji="0" lang="tr-TR" altLang="tr-TR" sz="1300" b="1" i="0" u="none" strike="noStrike" cap="none" normalizeH="0" baseline="0" dirty="0">
                <a:ln>
                  <a:noFill/>
                </a:ln>
                <a:effectLst/>
                <a:latin typeface="Arial" panose="020B0604020202020204" pitchFamily="34" charset="0"/>
              </a:rPr>
              <a:t>Amaç</a:t>
            </a:r>
            <a:r>
              <a:rPr kumimoji="0" lang="tr-TR" altLang="tr-TR" sz="1300" b="0" i="0" u="none" strike="noStrike" cap="none" normalizeH="0" baseline="0" dirty="0">
                <a:ln>
                  <a:noFill/>
                </a:ln>
                <a:effectLst/>
                <a:latin typeface="Arial" panose="020B0604020202020204" pitchFamily="34" charset="0"/>
              </a:rPr>
              <a:t>:</a:t>
            </a:r>
          </a:p>
          <a:p>
            <a:pPr marL="0" marR="0" lvl="0" indent="0" defTabSz="914400" rtl="0" eaLnBrk="0" fontAlgn="base" latinLnBrk="0" hangingPunct="0">
              <a:lnSpc>
                <a:spcPct val="90000"/>
              </a:lnSpc>
              <a:spcBef>
                <a:spcPct val="0"/>
              </a:spcBef>
              <a:spcAft>
                <a:spcPts val="600"/>
              </a:spcAft>
              <a:buClrTx/>
              <a:buSzTx/>
              <a:buFontTx/>
              <a:buChar char="•"/>
              <a:tabLst/>
            </a:pPr>
            <a:r>
              <a:rPr kumimoji="0" lang="tr-TR" altLang="tr-TR" sz="1300" b="0" i="0" u="none" strike="noStrike" cap="none" normalizeH="0" baseline="0" dirty="0">
                <a:ln>
                  <a:noFill/>
                </a:ln>
                <a:effectLst/>
                <a:latin typeface="Arial" panose="020B0604020202020204" pitchFamily="34" charset="0"/>
              </a:rPr>
              <a:t>Boyutları küçültmek.</a:t>
            </a:r>
          </a:p>
          <a:p>
            <a:pPr marL="0" marR="0" lvl="0" indent="0" defTabSz="914400" rtl="0" eaLnBrk="0" fontAlgn="base" latinLnBrk="0" hangingPunct="0">
              <a:lnSpc>
                <a:spcPct val="90000"/>
              </a:lnSpc>
              <a:spcBef>
                <a:spcPct val="0"/>
              </a:spcBef>
              <a:spcAft>
                <a:spcPts val="600"/>
              </a:spcAft>
              <a:buClrTx/>
              <a:buSzTx/>
              <a:buFontTx/>
              <a:buChar char="•"/>
              <a:tabLst/>
            </a:pPr>
            <a:r>
              <a:rPr kumimoji="0" lang="tr-TR" altLang="tr-TR" sz="1300" b="0" i="0" u="none" strike="noStrike" cap="none" normalizeH="0" baseline="0" dirty="0">
                <a:ln>
                  <a:noFill/>
                </a:ln>
                <a:effectLst/>
                <a:latin typeface="Arial" panose="020B0604020202020204" pitchFamily="34" charset="0"/>
              </a:rPr>
              <a:t>Hesaplama maliyetini azaltmak.</a:t>
            </a:r>
          </a:p>
          <a:p>
            <a:pPr marL="0" marR="0" lvl="0" indent="0" defTabSz="914400" rtl="0" eaLnBrk="0" fontAlgn="base" latinLnBrk="0" hangingPunct="0">
              <a:lnSpc>
                <a:spcPct val="90000"/>
              </a:lnSpc>
              <a:spcBef>
                <a:spcPct val="0"/>
              </a:spcBef>
              <a:spcAft>
                <a:spcPts val="600"/>
              </a:spcAft>
              <a:buClrTx/>
              <a:buSzTx/>
              <a:buFontTx/>
              <a:buChar char="•"/>
              <a:tabLst/>
            </a:pPr>
            <a:r>
              <a:rPr kumimoji="0" lang="tr-TR" altLang="tr-TR" sz="1300" b="0" i="0" u="none" strike="noStrike" cap="none" normalizeH="0" baseline="0" dirty="0">
                <a:ln>
                  <a:noFill/>
                </a:ln>
                <a:effectLst/>
                <a:latin typeface="Arial" panose="020B0604020202020204" pitchFamily="34" charset="0"/>
              </a:rPr>
              <a:t>Modelin aşırı öğrenmesini önlemek.</a:t>
            </a:r>
          </a:p>
          <a:p>
            <a:pPr marL="0" marR="0" lvl="0" indent="0" defTabSz="914400" rtl="0" eaLnBrk="0" fontAlgn="base" latinLnBrk="0" hangingPunct="0">
              <a:lnSpc>
                <a:spcPct val="90000"/>
              </a:lnSpc>
              <a:spcBef>
                <a:spcPct val="0"/>
              </a:spcBef>
              <a:spcAft>
                <a:spcPts val="600"/>
              </a:spcAft>
              <a:buClrTx/>
              <a:buSzTx/>
              <a:buFontTx/>
              <a:buNone/>
              <a:tabLst/>
            </a:pPr>
            <a:endParaRPr kumimoji="0" lang="tr-TR" altLang="tr-TR" sz="13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3808599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1DB7ED7-A611-641A-69F5-0DBF11D705B2}"/>
              </a:ext>
            </a:extLst>
          </p:cNvPr>
          <p:cNvSpPr>
            <a:spLocks noGrp="1"/>
          </p:cNvSpPr>
          <p:nvPr>
            <p:ph type="title"/>
          </p:nvPr>
        </p:nvSpPr>
        <p:spPr/>
        <p:txBody>
          <a:bodyPr/>
          <a:lstStyle/>
          <a:p>
            <a:r>
              <a:rPr lang="tr-TR" b="1" dirty="0"/>
              <a:t>Aktarma Katmanları</a:t>
            </a:r>
            <a:br>
              <a:rPr lang="tr-TR" b="1" dirty="0"/>
            </a:br>
            <a:endParaRPr lang="tr-TR" dirty="0"/>
          </a:p>
        </p:txBody>
      </p:sp>
      <p:sp>
        <p:nvSpPr>
          <p:cNvPr id="3" name="İçerik Yer Tutucusu 2">
            <a:extLst>
              <a:ext uri="{FF2B5EF4-FFF2-40B4-BE49-F238E27FC236}">
                <a16:creationId xmlns:a16="http://schemas.microsoft.com/office/drawing/2014/main" id="{82B0A22D-33EB-53BA-F32B-E2744AE47760}"/>
              </a:ext>
            </a:extLst>
          </p:cNvPr>
          <p:cNvSpPr>
            <a:spLocks noGrp="1"/>
          </p:cNvSpPr>
          <p:nvPr>
            <p:ph idx="1"/>
          </p:nvPr>
        </p:nvSpPr>
        <p:spPr/>
        <p:txBody>
          <a:bodyPr>
            <a:normAutofit/>
          </a:bodyPr>
          <a:lstStyle/>
          <a:p>
            <a:pPr>
              <a:buFont typeface="Arial" panose="020B0604020202020204" pitchFamily="34" charset="0"/>
              <a:buChar char="•"/>
            </a:pPr>
            <a:r>
              <a:rPr lang="tr-TR" b="1" dirty="0" err="1"/>
              <a:t>Flatten</a:t>
            </a:r>
            <a:r>
              <a:rPr lang="tr-TR" b="1" dirty="0"/>
              <a:t> Katmanı</a:t>
            </a:r>
            <a:r>
              <a:rPr lang="tr-TR" dirty="0"/>
              <a:t>: Özellik haritalarını birleştirerek tam bağlantılı (dense) katman için 1D bir vektöre dönüştürür.</a:t>
            </a:r>
          </a:p>
          <a:p>
            <a:pPr>
              <a:buFont typeface="Arial" panose="020B0604020202020204" pitchFamily="34" charset="0"/>
              <a:buChar char="•"/>
            </a:pPr>
            <a:r>
              <a:rPr lang="tr-TR" b="1" dirty="0"/>
              <a:t>Dense Katman (Tam Bağlantılı Katman)</a:t>
            </a:r>
            <a:r>
              <a:rPr lang="tr-TR" dirty="0"/>
              <a:t>:</a:t>
            </a:r>
          </a:p>
          <a:p>
            <a:pPr marL="742950" lvl="1" indent="-285750">
              <a:buFont typeface="Arial" panose="020B0604020202020204" pitchFamily="34" charset="0"/>
              <a:buChar char="•"/>
            </a:pPr>
            <a:r>
              <a:rPr lang="tr-TR" dirty="0"/>
              <a:t>Görsel özelliklerden sınıflandırma yapar.</a:t>
            </a:r>
          </a:p>
          <a:p>
            <a:pPr marL="742950" lvl="1" indent="-285750">
              <a:buFont typeface="Arial" panose="020B0604020202020204" pitchFamily="34" charset="0"/>
              <a:buChar char="•"/>
            </a:pPr>
            <a:r>
              <a:rPr lang="tr-TR" dirty="0"/>
              <a:t>Her bir nöron, bir sınıfı temsil eder.</a:t>
            </a:r>
          </a:p>
          <a:p>
            <a:pPr marL="742950" lvl="1" indent="-285750">
              <a:buFont typeface="Arial" panose="020B0604020202020204" pitchFamily="34" charset="0"/>
              <a:buChar char="•"/>
            </a:pPr>
            <a:r>
              <a:rPr lang="tr-TR" b="1" dirty="0" err="1"/>
              <a:t>Softmax</a:t>
            </a:r>
            <a:r>
              <a:rPr lang="tr-TR" b="1" dirty="0"/>
              <a:t> Aktivasyon Fonksiyonu</a:t>
            </a:r>
            <a:r>
              <a:rPr lang="tr-TR" dirty="0"/>
              <a:t>: Olasılıkları döndürür.</a:t>
            </a:r>
          </a:p>
          <a:p>
            <a:endParaRPr lang="tr-TR" dirty="0"/>
          </a:p>
        </p:txBody>
      </p:sp>
    </p:spTree>
    <p:extLst>
      <p:ext uri="{BB962C8B-B14F-4D97-AF65-F5344CB8AC3E}">
        <p14:creationId xmlns:p14="http://schemas.microsoft.com/office/powerpoint/2010/main" val="213384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461CDD3-A666-34EE-FA2D-C12E2EB6EB0A}"/>
              </a:ext>
            </a:extLst>
          </p:cNvPr>
          <p:cNvSpPr>
            <a:spLocks noGrp="1"/>
          </p:cNvSpPr>
          <p:nvPr>
            <p:ph type="title"/>
          </p:nvPr>
        </p:nvSpPr>
        <p:spPr/>
        <p:txBody>
          <a:bodyPr/>
          <a:lstStyle/>
          <a:p>
            <a:r>
              <a:rPr lang="tr-TR" dirty="0"/>
              <a:t>CNN'nin Temel Prensipleri</a:t>
            </a:r>
          </a:p>
        </p:txBody>
      </p:sp>
      <p:sp>
        <p:nvSpPr>
          <p:cNvPr id="3" name="İçerik Yer Tutucusu 2">
            <a:extLst>
              <a:ext uri="{FF2B5EF4-FFF2-40B4-BE49-F238E27FC236}">
                <a16:creationId xmlns:a16="http://schemas.microsoft.com/office/drawing/2014/main" id="{58D94B4B-6C7D-7EDF-AA09-DBA0A3C66917}"/>
              </a:ext>
            </a:extLst>
          </p:cNvPr>
          <p:cNvSpPr>
            <a:spLocks noGrp="1"/>
          </p:cNvSpPr>
          <p:nvPr>
            <p:ph idx="1"/>
          </p:nvPr>
        </p:nvSpPr>
        <p:spPr>
          <a:xfrm>
            <a:off x="2231136" y="2638044"/>
            <a:ext cx="7729728" cy="3375406"/>
          </a:xfrm>
        </p:spPr>
        <p:txBody>
          <a:bodyPr>
            <a:normAutofit fontScale="92500" lnSpcReduction="10000"/>
          </a:bodyPr>
          <a:lstStyle/>
          <a:p>
            <a:r>
              <a:rPr lang="tr-TR" b="1" dirty="0"/>
              <a:t>Yerel Algılama (</a:t>
            </a:r>
            <a:r>
              <a:rPr lang="tr-TR" b="1" dirty="0" err="1"/>
              <a:t>Local</a:t>
            </a:r>
            <a:r>
              <a:rPr lang="tr-TR" b="1" dirty="0"/>
              <a:t> </a:t>
            </a:r>
            <a:r>
              <a:rPr lang="tr-TR" b="1" dirty="0" err="1"/>
              <a:t>Receptive</a:t>
            </a:r>
            <a:r>
              <a:rPr lang="tr-TR" b="1" dirty="0"/>
              <a:t> </a:t>
            </a:r>
            <a:r>
              <a:rPr lang="tr-TR" b="1" dirty="0" err="1"/>
              <a:t>Field</a:t>
            </a:r>
            <a:r>
              <a:rPr lang="tr-TR" b="1" dirty="0"/>
              <a:t>)</a:t>
            </a:r>
          </a:p>
          <a:p>
            <a:pPr>
              <a:buFont typeface="Arial" panose="020B0604020202020204" pitchFamily="34" charset="0"/>
              <a:buChar char="•"/>
            </a:pPr>
            <a:r>
              <a:rPr lang="tr-TR" dirty="0"/>
              <a:t>CNN'de her filtre, görüntünün yalnızca küçük bir kısmını işler. Bu, modelin </a:t>
            </a:r>
            <a:r>
              <a:rPr lang="tr-TR" b="1" dirty="0"/>
              <a:t>uzaysal ilişkileri</a:t>
            </a:r>
            <a:r>
              <a:rPr lang="tr-TR" dirty="0"/>
              <a:t> öğrenmesini sağlar.</a:t>
            </a:r>
          </a:p>
          <a:p>
            <a:r>
              <a:rPr lang="tr-TR" b="1" dirty="0"/>
              <a:t>Ağırlık Paylaşımı (</a:t>
            </a:r>
            <a:r>
              <a:rPr lang="tr-TR" b="1" dirty="0" err="1"/>
              <a:t>Weight</a:t>
            </a:r>
            <a:r>
              <a:rPr lang="tr-TR" b="1" dirty="0"/>
              <a:t> </a:t>
            </a:r>
            <a:r>
              <a:rPr lang="tr-TR" b="1" dirty="0" err="1"/>
              <a:t>Sharing</a:t>
            </a:r>
            <a:r>
              <a:rPr lang="tr-TR" b="1" dirty="0"/>
              <a:t>)</a:t>
            </a:r>
          </a:p>
          <a:p>
            <a:pPr>
              <a:buFont typeface="Arial" panose="020B0604020202020204" pitchFamily="34" charset="0"/>
              <a:buChar char="•"/>
            </a:pPr>
            <a:r>
              <a:rPr lang="tr-TR" dirty="0"/>
              <a:t>Bir filtre, tüm görüntüde aynı ağırlıkları kullanır. Bu, hem hesaplama maliyetini azaltır hem de öğrenme kapasitesini artırır.</a:t>
            </a:r>
          </a:p>
          <a:p>
            <a:r>
              <a:rPr lang="tr-TR" b="1" dirty="0"/>
              <a:t>Çok Katmanlı Öğrenme</a:t>
            </a:r>
          </a:p>
          <a:p>
            <a:pPr>
              <a:buFont typeface="Arial" panose="020B0604020202020204" pitchFamily="34" charset="0"/>
              <a:buChar char="•"/>
            </a:pPr>
            <a:r>
              <a:rPr lang="tr-TR" dirty="0"/>
              <a:t>İlk katmanlar: Kenarlar, dokular gibi düşük seviyeli özellikleri öğrenir.</a:t>
            </a:r>
          </a:p>
          <a:p>
            <a:pPr>
              <a:buFont typeface="Arial" panose="020B0604020202020204" pitchFamily="34" charset="0"/>
              <a:buChar char="•"/>
            </a:pPr>
            <a:r>
              <a:rPr lang="tr-TR" dirty="0"/>
              <a:t>Orta katmanlar: Şekiller ve nesne parçalarını öğrenir.</a:t>
            </a:r>
          </a:p>
          <a:p>
            <a:pPr>
              <a:buFont typeface="Arial" panose="020B0604020202020204" pitchFamily="34" charset="0"/>
              <a:buChar char="•"/>
            </a:pPr>
            <a:r>
              <a:rPr lang="tr-TR" dirty="0"/>
              <a:t>Son katmanlar: Tam nesneleri öğrenir ve sınıflandırma yapar.</a:t>
            </a:r>
          </a:p>
          <a:p>
            <a:endParaRPr lang="tr-TR" dirty="0"/>
          </a:p>
        </p:txBody>
      </p:sp>
    </p:spTree>
    <p:extLst>
      <p:ext uri="{BB962C8B-B14F-4D97-AF65-F5344CB8AC3E}">
        <p14:creationId xmlns:p14="http://schemas.microsoft.com/office/powerpoint/2010/main" val="888750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7" name="İçerik Yer Tutucusu 6" descr="metin, yazı tipi, ekran görüntüsü içeren bir resim&#10;&#10;Açıklama otomatik olarak oluşturuldu">
            <a:extLst>
              <a:ext uri="{FF2B5EF4-FFF2-40B4-BE49-F238E27FC236}">
                <a16:creationId xmlns:a16="http://schemas.microsoft.com/office/drawing/2014/main" id="{1DB79AD6-73FD-C24D-9B9E-8B0B821D23D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04334" y="1960562"/>
            <a:ext cx="10583332" cy="2936875"/>
          </a:xfrm>
          <a:prstGeom prst="rect">
            <a:avLst/>
          </a:prstGeom>
        </p:spPr>
      </p:pic>
    </p:spTree>
    <p:extLst>
      <p:ext uri="{BB962C8B-B14F-4D97-AF65-F5344CB8AC3E}">
        <p14:creationId xmlns:p14="http://schemas.microsoft.com/office/powerpoint/2010/main" val="3718579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descr="ekran görüntüsü, renklilik, kare, dikdörtgen içeren bir resim&#10;&#10;Açıklama otomatik olarak oluşturuldu">
            <a:extLst>
              <a:ext uri="{FF2B5EF4-FFF2-40B4-BE49-F238E27FC236}">
                <a16:creationId xmlns:a16="http://schemas.microsoft.com/office/drawing/2014/main" id="{625D86EC-6E0F-2DCD-191F-84080CF5CE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5920"/>
            <a:ext cx="12192000" cy="4266160"/>
          </a:xfrm>
          <a:prstGeom prst="rect">
            <a:avLst/>
          </a:prstGeom>
        </p:spPr>
      </p:pic>
    </p:spTree>
    <p:extLst>
      <p:ext uri="{BB962C8B-B14F-4D97-AF65-F5344CB8AC3E}">
        <p14:creationId xmlns:p14="http://schemas.microsoft.com/office/powerpoint/2010/main" val="2169880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etin kutusu 4">
            <a:extLst>
              <a:ext uri="{FF2B5EF4-FFF2-40B4-BE49-F238E27FC236}">
                <a16:creationId xmlns:a16="http://schemas.microsoft.com/office/drawing/2014/main" id="{C918732A-734E-4EAD-8BDA-1A2B56D9A371}"/>
              </a:ext>
            </a:extLst>
          </p:cNvPr>
          <p:cNvSpPr txBox="1"/>
          <p:nvPr/>
        </p:nvSpPr>
        <p:spPr>
          <a:xfrm>
            <a:off x="506442" y="2031137"/>
            <a:ext cx="2624108" cy="2308324"/>
          </a:xfrm>
          <a:prstGeom prst="rect">
            <a:avLst/>
          </a:prstGeom>
          <a:noFill/>
        </p:spPr>
        <p:txBody>
          <a:bodyPr wrap="square">
            <a:spAutoFit/>
          </a:bodyPr>
          <a:lstStyle/>
          <a:p>
            <a:r>
              <a:rPr lang="tr-TR" sz="2400" dirty="0"/>
              <a:t>7   4   8   5   7   9</a:t>
            </a:r>
          </a:p>
          <a:p>
            <a:r>
              <a:rPr lang="tr-TR" sz="2400" dirty="0"/>
              <a:t>7   8   5   3   7   8</a:t>
            </a:r>
          </a:p>
          <a:p>
            <a:r>
              <a:rPr lang="tr-TR" sz="2400" dirty="0"/>
              <a:t>3   6   5   4   9   5</a:t>
            </a:r>
          </a:p>
          <a:p>
            <a:r>
              <a:rPr lang="tr-TR" sz="2400" dirty="0"/>
              <a:t>2   5   1   6   9   5</a:t>
            </a:r>
          </a:p>
          <a:p>
            <a:r>
              <a:rPr lang="tr-TR" sz="2400" dirty="0"/>
              <a:t>3   7   4   9   3   7</a:t>
            </a:r>
          </a:p>
          <a:p>
            <a:r>
              <a:rPr lang="tr-TR" sz="2400" dirty="0"/>
              <a:t>3   7   5   9   7   2</a:t>
            </a:r>
          </a:p>
        </p:txBody>
      </p:sp>
      <p:sp>
        <p:nvSpPr>
          <p:cNvPr id="7" name="Metin kutusu 6">
            <a:extLst>
              <a:ext uri="{FF2B5EF4-FFF2-40B4-BE49-F238E27FC236}">
                <a16:creationId xmlns:a16="http://schemas.microsoft.com/office/drawing/2014/main" id="{2AF145A3-311B-CFC7-3B67-B89E6E9FEB3F}"/>
              </a:ext>
            </a:extLst>
          </p:cNvPr>
          <p:cNvSpPr txBox="1"/>
          <p:nvPr/>
        </p:nvSpPr>
        <p:spPr>
          <a:xfrm>
            <a:off x="3595298" y="2637135"/>
            <a:ext cx="1529152" cy="1200329"/>
          </a:xfrm>
          <a:prstGeom prst="rect">
            <a:avLst/>
          </a:prstGeom>
          <a:noFill/>
        </p:spPr>
        <p:txBody>
          <a:bodyPr wrap="square">
            <a:spAutoFit/>
          </a:bodyPr>
          <a:lstStyle/>
          <a:p>
            <a:r>
              <a:rPr lang="tr-TR" sz="2400" dirty="0"/>
              <a:t>1   0  -1</a:t>
            </a:r>
          </a:p>
          <a:p>
            <a:r>
              <a:rPr lang="tr-TR" sz="2400" dirty="0"/>
              <a:t>1   0  -1</a:t>
            </a:r>
          </a:p>
          <a:p>
            <a:r>
              <a:rPr lang="tr-TR" sz="2400" dirty="0"/>
              <a:t>1   0  -1</a:t>
            </a:r>
          </a:p>
        </p:txBody>
      </p:sp>
      <p:sp>
        <p:nvSpPr>
          <p:cNvPr id="9" name="Metin kutusu 8">
            <a:extLst>
              <a:ext uri="{FF2B5EF4-FFF2-40B4-BE49-F238E27FC236}">
                <a16:creationId xmlns:a16="http://schemas.microsoft.com/office/drawing/2014/main" id="{1A01EEFD-D9FD-370E-8FA9-9D8792DB44B4}"/>
              </a:ext>
            </a:extLst>
          </p:cNvPr>
          <p:cNvSpPr txBox="1"/>
          <p:nvPr/>
        </p:nvSpPr>
        <p:spPr>
          <a:xfrm>
            <a:off x="5589198" y="2626320"/>
            <a:ext cx="5302367" cy="1477328"/>
          </a:xfrm>
          <a:prstGeom prst="rect">
            <a:avLst/>
          </a:prstGeom>
          <a:noFill/>
        </p:spPr>
        <p:txBody>
          <a:bodyPr wrap="square">
            <a:spAutoFit/>
          </a:bodyPr>
          <a:lstStyle/>
          <a:p>
            <a:r>
              <a:rPr lang="sv-SE" dirty="0"/>
              <a:t>(1*7) + (0*4) + (-1*8) = 7 + 0 - 8 = -1</a:t>
            </a:r>
          </a:p>
          <a:p>
            <a:r>
              <a:rPr lang="sv-SE" dirty="0"/>
              <a:t>(1*7) + (0*8) + (-1*5) = 7 + 0 - 5 = 2</a:t>
            </a:r>
          </a:p>
          <a:p>
            <a:r>
              <a:rPr lang="sv-SE" dirty="0"/>
              <a:t>(1*3) + (0*6) + (-1*5) = 3 + 0 - 5 = -2</a:t>
            </a:r>
            <a:endParaRPr lang="tr-TR" dirty="0"/>
          </a:p>
          <a:p>
            <a:endParaRPr lang="sv-SE" dirty="0"/>
          </a:p>
          <a:p>
            <a:r>
              <a:rPr lang="tr-TR" dirty="0"/>
              <a:t>             </a:t>
            </a:r>
            <a:r>
              <a:rPr lang="sv-SE" dirty="0"/>
              <a:t>Toplam: -1 + 2 - 2 = -1</a:t>
            </a:r>
          </a:p>
        </p:txBody>
      </p:sp>
      <p:sp>
        <p:nvSpPr>
          <p:cNvPr id="12" name="Metin kutusu 11">
            <a:extLst>
              <a:ext uri="{FF2B5EF4-FFF2-40B4-BE49-F238E27FC236}">
                <a16:creationId xmlns:a16="http://schemas.microsoft.com/office/drawing/2014/main" id="{16715C77-5DE9-E825-6685-35FE1282D6A7}"/>
              </a:ext>
            </a:extLst>
          </p:cNvPr>
          <p:cNvSpPr txBox="1"/>
          <p:nvPr/>
        </p:nvSpPr>
        <p:spPr>
          <a:xfrm>
            <a:off x="901700" y="1661805"/>
            <a:ext cx="1534394" cy="369332"/>
          </a:xfrm>
          <a:prstGeom prst="rect">
            <a:avLst/>
          </a:prstGeom>
          <a:noFill/>
        </p:spPr>
        <p:txBody>
          <a:bodyPr wrap="none" rtlCol="0">
            <a:spAutoFit/>
          </a:bodyPr>
          <a:lstStyle/>
          <a:p>
            <a:r>
              <a:rPr lang="tr-TR" dirty="0"/>
              <a:t>Orijinal Matris</a:t>
            </a:r>
          </a:p>
        </p:txBody>
      </p:sp>
      <p:sp>
        <p:nvSpPr>
          <p:cNvPr id="13" name="Metin kutusu 12">
            <a:extLst>
              <a:ext uri="{FF2B5EF4-FFF2-40B4-BE49-F238E27FC236}">
                <a16:creationId xmlns:a16="http://schemas.microsoft.com/office/drawing/2014/main" id="{9CDD43A3-3F88-2DF6-91B8-906F5299ABBD}"/>
              </a:ext>
            </a:extLst>
          </p:cNvPr>
          <p:cNvSpPr txBox="1"/>
          <p:nvPr/>
        </p:nvSpPr>
        <p:spPr>
          <a:xfrm>
            <a:off x="3881057" y="2267803"/>
            <a:ext cx="670568" cy="369332"/>
          </a:xfrm>
          <a:prstGeom prst="rect">
            <a:avLst/>
          </a:prstGeom>
          <a:noFill/>
        </p:spPr>
        <p:txBody>
          <a:bodyPr wrap="none" rtlCol="0">
            <a:spAutoFit/>
          </a:bodyPr>
          <a:lstStyle/>
          <a:p>
            <a:r>
              <a:rPr lang="tr-TR" dirty="0"/>
              <a:t>Filtre</a:t>
            </a:r>
          </a:p>
        </p:txBody>
      </p:sp>
      <p:sp>
        <p:nvSpPr>
          <p:cNvPr id="16" name="Metin kutusu 15">
            <a:extLst>
              <a:ext uri="{FF2B5EF4-FFF2-40B4-BE49-F238E27FC236}">
                <a16:creationId xmlns:a16="http://schemas.microsoft.com/office/drawing/2014/main" id="{2A316703-CC89-6A64-D36F-09B16C7953D1}"/>
              </a:ext>
            </a:extLst>
          </p:cNvPr>
          <p:cNvSpPr txBox="1"/>
          <p:nvPr/>
        </p:nvSpPr>
        <p:spPr>
          <a:xfrm>
            <a:off x="10172700" y="2480573"/>
            <a:ext cx="1955800" cy="1200329"/>
          </a:xfrm>
          <a:prstGeom prst="rect">
            <a:avLst/>
          </a:prstGeom>
          <a:noFill/>
        </p:spPr>
        <p:txBody>
          <a:bodyPr wrap="square">
            <a:spAutoFit/>
          </a:bodyPr>
          <a:lstStyle/>
          <a:p>
            <a:r>
              <a:rPr lang="tr-TR" dirty="0"/>
              <a:t>-1    7   -5   -6</a:t>
            </a:r>
          </a:p>
          <a:p>
            <a:r>
              <a:rPr lang="tr-TR" dirty="0"/>
              <a:t> 1    7  -14   -3</a:t>
            </a:r>
          </a:p>
          <a:p>
            <a:r>
              <a:rPr lang="tr-TR" dirty="0"/>
              <a:t> -2    1  -10    5</a:t>
            </a:r>
          </a:p>
          <a:p>
            <a:r>
              <a:rPr lang="tr-TR" dirty="0"/>
              <a:t> -2   -2   -9   16</a:t>
            </a:r>
          </a:p>
        </p:txBody>
      </p:sp>
      <p:sp>
        <p:nvSpPr>
          <p:cNvPr id="17" name="Çarpım İşareti 16">
            <a:extLst>
              <a:ext uri="{FF2B5EF4-FFF2-40B4-BE49-F238E27FC236}">
                <a16:creationId xmlns:a16="http://schemas.microsoft.com/office/drawing/2014/main" id="{A4C7C7DC-7BD8-F097-5819-56363B58305A}"/>
              </a:ext>
            </a:extLst>
          </p:cNvPr>
          <p:cNvSpPr/>
          <p:nvPr/>
        </p:nvSpPr>
        <p:spPr>
          <a:xfrm>
            <a:off x="3028950" y="3046799"/>
            <a:ext cx="406400" cy="394901"/>
          </a:xfrm>
          <a:prstGeom prst="mathMultipl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tr-TR"/>
          </a:p>
        </p:txBody>
      </p:sp>
      <p:sp>
        <p:nvSpPr>
          <p:cNvPr id="18" name="Ok: Sağ 17">
            <a:extLst>
              <a:ext uri="{FF2B5EF4-FFF2-40B4-BE49-F238E27FC236}">
                <a16:creationId xmlns:a16="http://schemas.microsoft.com/office/drawing/2014/main" id="{7D06F58C-4C31-FBD2-D4EE-C78CBB60A054}"/>
              </a:ext>
            </a:extLst>
          </p:cNvPr>
          <p:cNvSpPr/>
          <p:nvPr/>
        </p:nvSpPr>
        <p:spPr>
          <a:xfrm rot="5400000">
            <a:off x="3789064" y="4396432"/>
            <a:ext cx="636972" cy="215783"/>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tr-TR"/>
          </a:p>
        </p:txBody>
      </p:sp>
      <p:sp>
        <p:nvSpPr>
          <p:cNvPr id="19" name="Ok: Sağ 18">
            <a:extLst>
              <a:ext uri="{FF2B5EF4-FFF2-40B4-BE49-F238E27FC236}">
                <a16:creationId xmlns:a16="http://schemas.microsoft.com/office/drawing/2014/main" id="{A50DEF5B-ED12-C694-1DCC-BD7F7FE0C491}"/>
              </a:ext>
            </a:extLst>
          </p:cNvPr>
          <p:cNvSpPr/>
          <p:nvPr/>
        </p:nvSpPr>
        <p:spPr>
          <a:xfrm>
            <a:off x="9467372" y="2967425"/>
            <a:ext cx="521898" cy="226626"/>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tr-TR"/>
          </a:p>
        </p:txBody>
      </p:sp>
      <p:sp>
        <p:nvSpPr>
          <p:cNvPr id="20" name="Metin kutusu 19">
            <a:extLst>
              <a:ext uri="{FF2B5EF4-FFF2-40B4-BE49-F238E27FC236}">
                <a16:creationId xmlns:a16="http://schemas.microsoft.com/office/drawing/2014/main" id="{B11DDC96-0486-C1D2-6C23-EF79C07FCE97}"/>
              </a:ext>
            </a:extLst>
          </p:cNvPr>
          <p:cNvSpPr txBox="1"/>
          <p:nvPr/>
        </p:nvSpPr>
        <p:spPr>
          <a:xfrm>
            <a:off x="4495800" y="850900"/>
            <a:ext cx="1946623" cy="707886"/>
          </a:xfrm>
          <a:prstGeom prst="rect">
            <a:avLst/>
          </a:prstGeom>
          <a:noFill/>
        </p:spPr>
        <p:txBody>
          <a:bodyPr wrap="none" rtlCol="0">
            <a:spAutoFit/>
          </a:bodyPr>
          <a:lstStyle/>
          <a:p>
            <a:r>
              <a:rPr lang="tr-TR" sz="4000" dirty="0"/>
              <a:t>Conv2D</a:t>
            </a:r>
          </a:p>
        </p:txBody>
      </p:sp>
      <p:sp>
        <p:nvSpPr>
          <p:cNvPr id="21" name="Metin kutusu 20">
            <a:extLst>
              <a:ext uri="{FF2B5EF4-FFF2-40B4-BE49-F238E27FC236}">
                <a16:creationId xmlns:a16="http://schemas.microsoft.com/office/drawing/2014/main" id="{2D0C2279-F748-1862-DD99-78B99686FA26}"/>
              </a:ext>
            </a:extLst>
          </p:cNvPr>
          <p:cNvSpPr txBox="1"/>
          <p:nvPr/>
        </p:nvSpPr>
        <p:spPr>
          <a:xfrm>
            <a:off x="10528300" y="2184115"/>
            <a:ext cx="875561" cy="369332"/>
          </a:xfrm>
          <a:prstGeom prst="rect">
            <a:avLst/>
          </a:prstGeom>
          <a:noFill/>
        </p:spPr>
        <p:txBody>
          <a:bodyPr wrap="none" rtlCol="0">
            <a:spAutoFit/>
          </a:bodyPr>
          <a:lstStyle/>
          <a:p>
            <a:r>
              <a:rPr lang="tr-TR" dirty="0" err="1"/>
              <a:t>Output</a:t>
            </a:r>
            <a:endParaRPr lang="tr-TR" dirty="0"/>
          </a:p>
        </p:txBody>
      </p:sp>
      <p:sp>
        <p:nvSpPr>
          <p:cNvPr id="3" name="Metin kutusu 2">
            <a:extLst>
              <a:ext uri="{FF2B5EF4-FFF2-40B4-BE49-F238E27FC236}">
                <a16:creationId xmlns:a16="http://schemas.microsoft.com/office/drawing/2014/main" id="{BB4201EB-DC34-6CE3-6B06-41EA371F8D6F}"/>
              </a:ext>
            </a:extLst>
          </p:cNvPr>
          <p:cNvSpPr txBox="1"/>
          <p:nvPr/>
        </p:nvSpPr>
        <p:spPr>
          <a:xfrm>
            <a:off x="2151090" y="5171182"/>
            <a:ext cx="5894480" cy="923330"/>
          </a:xfrm>
          <a:prstGeom prst="rect">
            <a:avLst/>
          </a:prstGeom>
          <a:noFill/>
        </p:spPr>
        <p:txBody>
          <a:bodyPr wrap="square">
            <a:spAutoFit/>
          </a:bodyPr>
          <a:lstStyle/>
          <a:p>
            <a:r>
              <a:rPr lang="tr-TR" dirty="0"/>
              <a:t>Bu filtre, bir görüntüdeki </a:t>
            </a:r>
            <a:r>
              <a:rPr lang="tr-TR" b="1" dirty="0"/>
              <a:t>dikey kenarları</a:t>
            </a:r>
            <a:r>
              <a:rPr lang="tr-TR" dirty="0"/>
              <a:t> algılar. Her bir bölgede sol taraf ile sağ taraf arasındaki farkı hesaplar ve bu farkı özellik haritasına yansıtır.</a:t>
            </a:r>
          </a:p>
        </p:txBody>
      </p:sp>
      <p:sp>
        <p:nvSpPr>
          <p:cNvPr id="4" name="Ok: Sağ 3">
            <a:extLst>
              <a:ext uri="{FF2B5EF4-FFF2-40B4-BE49-F238E27FC236}">
                <a16:creationId xmlns:a16="http://schemas.microsoft.com/office/drawing/2014/main" id="{E0EFEED4-20A4-EE6D-C455-5DA008E4591A}"/>
              </a:ext>
            </a:extLst>
          </p:cNvPr>
          <p:cNvSpPr/>
          <p:nvPr/>
        </p:nvSpPr>
        <p:spPr>
          <a:xfrm>
            <a:off x="5087070" y="3222108"/>
            <a:ext cx="521898" cy="313551"/>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3484915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a:extLst>
              <a:ext uri="{FF2B5EF4-FFF2-40B4-BE49-F238E27FC236}">
                <a16:creationId xmlns:a16="http://schemas.microsoft.com/office/drawing/2014/main" id="{D682F32E-38B8-46B5-C0FE-774804999231}"/>
              </a:ext>
            </a:extLst>
          </p:cNvPr>
          <p:cNvSpPr txBox="1"/>
          <p:nvPr/>
        </p:nvSpPr>
        <p:spPr>
          <a:xfrm>
            <a:off x="3592738" y="895350"/>
            <a:ext cx="4739824" cy="707886"/>
          </a:xfrm>
          <a:prstGeom prst="rect">
            <a:avLst/>
          </a:prstGeom>
          <a:noFill/>
        </p:spPr>
        <p:txBody>
          <a:bodyPr wrap="none" rtlCol="0">
            <a:spAutoFit/>
          </a:bodyPr>
          <a:lstStyle/>
          <a:p>
            <a:r>
              <a:rPr lang="tr-TR" sz="4000" dirty="0" err="1"/>
              <a:t>MaxPooling</a:t>
            </a:r>
            <a:r>
              <a:rPr lang="tr-TR" sz="4000" dirty="0"/>
              <a:t> ve </a:t>
            </a:r>
            <a:r>
              <a:rPr lang="tr-TR" sz="4000" dirty="0" err="1"/>
              <a:t>Flatten</a:t>
            </a:r>
            <a:endParaRPr lang="tr-TR" sz="4000" dirty="0"/>
          </a:p>
        </p:txBody>
      </p:sp>
      <p:sp>
        <p:nvSpPr>
          <p:cNvPr id="5" name="Metin kutusu 4">
            <a:extLst>
              <a:ext uri="{FF2B5EF4-FFF2-40B4-BE49-F238E27FC236}">
                <a16:creationId xmlns:a16="http://schemas.microsoft.com/office/drawing/2014/main" id="{70B21C42-4C78-4D26-DD80-FA5F90D2BEBE}"/>
              </a:ext>
            </a:extLst>
          </p:cNvPr>
          <p:cNvSpPr txBox="1"/>
          <p:nvPr/>
        </p:nvSpPr>
        <p:spPr>
          <a:xfrm>
            <a:off x="655440" y="2099794"/>
            <a:ext cx="1955800" cy="1200329"/>
          </a:xfrm>
          <a:prstGeom prst="rect">
            <a:avLst/>
          </a:prstGeom>
          <a:noFill/>
        </p:spPr>
        <p:txBody>
          <a:bodyPr wrap="square">
            <a:spAutoFit/>
          </a:bodyPr>
          <a:lstStyle/>
          <a:p>
            <a:r>
              <a:rPr lang="tr-TR" dirty="0"/>
              <a:t> -1    7   -5   -6</a:t>
            </a:r>
          </a:p>
          <a:p>
            <a:r>
              <a:rPr lang="tr-TR" dirty="0"/>
              <a:t>  1    7  -14   -3</a:t>
            </a:r>
          </a:p>
          <a:p>
            <a:r>
              <a:rPr lang="tr-TR" dirty="0"/>
              <a:t> -2    1  -10    5</a:t>
            </a:r>
          </a:p>
          <a:p>
            <a:r>
              <a:rPr lang="tr-TR" dirty="0"/>
              <a:t> -2   -2   -9   16</a:t>
            </a:r>
          </a:p>
        </p:txBody>
      </p:sp>
      <p:sp>
        <p:nvSpPr>
          <p:cNvPr id="7" name="Metin kutusu 6">
            <a:extLst>
              <a:ext uri="{FF2B5EF4-FFF2-40B4-BE49-F238E27FC236}">
                <a16:creationId xmlns:a16="http://schemas.microsoft.com/office/drawing/2014/main" id="{07A0D294-943E-F353-3775-9B7F909039A2}"/>
              </a:ext>
            </a:extLst>
          </p:cNvPr>
          <p:cNvSpPr txBox="1"/>
          <p:nvPr/>
        </p:nvSpPr>
        <p:spPr>
          <a:xfrm>
            <a:off x="5757466" y="2376794"/>
            <a:ext cx="971550" cy="646331"/>
          </a:xfrm>
          <a:prstGeom prst="rect">
            <a:avLst/>
          </a:prstGeom>
          <a:noFill/>
        </p:spPr>
        <p:txBody>
          <a:bodyPr wrap="square">
            <a:spAutoFit/>
          </a:bodyPr>
          <a:lstStyle/>
          <a:p>
            <a:r>
              <a:rPr lang="tr-TR" dirty="0"/>
              <a:t>0    7</a:t>
            </a:r>
          </a:p>
          <a:p>
            <a:r>
              <a:rPr lang="tr-TR" dirty="0"/>
              <a:t>1    7</a:t>
            </a:r>
          </a:p>
        </p:txBody>
      </p:sp>
      <p:sp>
        <p:nvSpPr>
          <p:cNvPr id="8" name="Ok: Sağ 7">
            <a:extLst>
              <a:ext uri="{FF2B5EF4-FFF2-40B4-BE49-F238E27FC236}">
                <a16:creationId xmlns:a16="http://schemas.microsoft.com/office/drawing/2014/main" id="{18EE6B8C-A8AF-436A-7A17-B6A73C7FD576}"/>
              </a:ext>
            </a:extLst>
          </p:cNvPr>
          <p:cNvSpPr/>
          <p:nvPr/>
        </p:nvSpPr>
        <p:spPr>
          <a:xfrm>
            <a:off x="2558654" y="2601223"/>
            <a:ext cx="533400" cy="20955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tr-TR"/>
          </a:p>
        </p:txBody>
      </p:sp>
      <p:sp>
        <p:nvSpPr>
          <p:cNvPr id="10" name="Metin kutusu 9">
            <a:extLst>
              <a:ext uri="{FF2B5EF4-FFF2-40B4-BE49-F238E27FC236}">
                <a16:creationId xmlns:a16="http://schemas.microsoft.com/office/drawing/2014/main" id="{B1F11761-4B9A-2F5D-3717-0E4EB1D8A502}"/>
              </a:ext>
            </a:extLst>
          </p:cNvPr>
          <p:cNvSpPr txBox="1"/>
          <p:nvPr/>
        </p:nvSpPr>
        <p:spPr>
          <a:xfrm>
            <a:off x="5330032" y="2993144"/>
            <a:ext cx="2209800" cy="307777"/>
          </a:xfrm>
          <a:prstGeom prst="rect">
            <a:avLst/>
          </a:prstGeom>
          <a:noFill/>
        </p:spPr>
        <p:txBody>
          <a:bodyPr wrap="square">
            <a:spAutoFit/>
          </a:bodyPr>
          <a:lstStyle/>
          <a:p>
            <a:r>
              <a:rPr lang="tr-TR" sz="1400" dirty="0"/>
              <a:t>Maksimum değer: </a:t>
            </a:r>
            <a:r>
              <a:rPr lang="tr-TR" sz="1400" b="1" dirty="0"/>
              <a:t>7</a:t>
            </a:r>
            <a:endParaRPr lang="tr-TR" sz="1400" dirty="0"/>
          </a:p>
        </p:txBody>
      </p:sp>
      <p:sp>
        <p:nvSpPr>
          <p:cNvPr id="14" name="Metin kutusu 13">
            <a:extLst>
              <a:ext uri="{FF2B5EF4-FFF2-40B4-BE49-F238E27FC236}">
                <a16:creationId xmlns:a16="http://schemas.microsoft.com/office/drawing/2014/main" id="{53FC6DF2-90F8-B5B4-493B-FC855FB06269}"/>
              </a:ext>
            </a:extLst>
          </p:cNvPr>
          <p:cNvSpPr txBox="1"/>
          <p:nvPr/>
        </p:nvSpPr>
        <p:spPr>
          <a:xfrm>
            <a:off x="7980363" y="2460616"/>
            <a:ext cx="812800" cy="646331"/>
          </a:xfrm>
          <a:prstGeom prst="rect">
            <a:avLst/>
          </a:prstGeom>
          <a:noFill/>
        </p:spPr>
        <p:txBody>
          <a:bodyPr wrap="square">
            <a:spAutoFit/>
          </a:bodyPr>
          <a:lstStyle/>
          <a:p>
            <a:r>
              <a:rPr lang="tr-TR" dirty="0"/>
              <a:t>7   0</a:t>
            </a:r>
          </a:p>
          <a:p>
            <a:r>
              <a:rPr lang="tr-TR" dirty="0"/>
              <a:t>1   16</a:t>
            </a:r>
          </a:p>
        </p:txBody>
      </p:sp>
      <p:sp>
        <p:nvSpPr>
          <p:cNvPr id="16" name="Metin kutusu 15">
            <a:extLst>
              <a:ext uri="{FF2B5EF4-FFF2-40B4-BE49-F238E27FC236}">
                <a16:creationId xmlns:a16="http://schemas.microsoft.com/office/drawing/2014/main" id="{F6ECB178-388B-3D2E-AEAA-28D1640206D8}"/>
              </a:ext>
            </a:extLst>
          </p:cNvPr>
          <p:cNvSpPr txBox="1"/>
          <p:nvPr/>
        </p:nvSpPr>
        <p:spPr>
          <a:xfrm>
            <a:off x="10428288" y="2572514"/>
            <a:ext cx="1593850" cy="369332"/>
          </a:xfrm>
          <a:prstGeom prst="rect">
            <a:avLst/>
          </a:prstGeom>
          <a:noFill/>
        </p:spPr>
        <p:txBody>
          <a:bodyPr wrap="square">
            <a:spAutoFit/>
          </a:bodyPr>
          <a:lstStyle/>
          <a:p>
            <a:r>
              <a:rPr lang="tr-TR" dirty="0"/>
              <a:t>[7, 0, 1, 16]</a:t>
            </a:r>
          </a:p>
        </p:txBody>
      </p:sp>
      <p:sp>
        <p:nvSpPr>
          <p:cNvPr id="17" name="Metin kutusu 16">
            <a:extLst>
              <a:ext uri="{FF2B5EF4-FFF2-40B4-BE49-F238E27FC236}">
                <a16:creationId xmlns:a16="http://schemas.microsoft.com/office/drawing/2014/main" id="{A5CBE3AD-21F6-5F2F-F0F7-7ADF13E13BD7}"/>
              </a:ext>
            </a:extLst>
          </p:cNvPr>
          <p:cNvSpPr txBox="1"/>
          <p:nvPr/>
        </p:nvSpPr>
        <p:spPr>
          <a:xfrm>
            <a:off x="7847013" y="2148096"/>
            <a:ext cx="1257717" cy="369332"/>
          </a:xfrm>
          <a:prstGeom prst="rect">
            <a:avLst/>
          </a:prstGeom>
          <a:noFill/>
        </p:spPr>
        <p:txBody>
          <a:bodyPr wrap="none" rtlCol="0">
            <a:spAutoFit/>
          </a:bodyPr>
          <a:lstStyle/>
          <a:p>
            <a:r>
              <a:rPr lang="tr-TR" dirty="0" err="1"/>
              <a:t>MaxPooling</a:t>
            </a:r>
            <a:endParaRPr lang="tr-TR" dirty="0"/>
          </a:p>
        </p:txBody>
      </p:sp>
      <p:sp>
        <p:nvSpPr>
          <p:cNvPr id="18" name="Metin kutusu 17">
            <a:extLst>
              <a:ext uri="{FF2B5EF4-FFF2-40B4-BE49-F238E27FC236}">
                <a16:creationId xmlns:a16="http://schemas.microsoft.com/office/drawing/2014/main" id="{D2C88430-6F59-2EC1-7545-16F990A723A3}"/>
              </a:ext>
            </a:extLst>
          </p:cNvPr>
          <p:cNvSpPr txBox="1"/>
          <p:nvPr/>
        </p:nvSpPr>
        <p:spPr>
          <a:xfrm>
            <a:off x="10602913" y="2148096"/>
            <a:ext cx="822661" cy="369332"/>
          </a:xfrm>
          <a:prstGeom prst="rect">
            <a:avLst/>
          </a:prstGeom>
          <a:noFill/>
        </p:spPr>
        <p:txBody>
          <a:bodyPr wrap="none" rtlCol="0">
            <a:spAutoFit/>
          </a:bodyPr>
          <a:lstStyle/>
          <a:p>
            <a:r>
              <a:rPr lang="tr-TR" dirty="0" err="1"/>
              <a:t>Flatten</a:t>
            </a:r>
            <a:endParaRPr lang="tr-TR" dirty="0"/>
          </a:p>
        </p:txBody>
      </p:sp>
      <p:sp>
        <p:nvSpPr>
          <p:cNvPr id="22" name="Metin kutusu 21">
            <a:extLst>
              <a:ext uri="{FF2B5EF4-FFF2-40B4-BE49-F238E27FC236}">
                <a16:creationId xmlns:a16="http://schemas.microsoft.com/office/drawing/2014/main" id="{709ABB01-B9D5-7F29-CD47-703413820FB9}"/>
              </a:ext>
            </a:extLst>
          </p:cNvPr>
          <p:cNvSpPr txBox="1"/>
          <p:nvPr/>
        </p:nvSpPr>
        <p:spPr>
          <a:xfrm>
            <a:off x="3256163" y="2148096"/>
            <a:ext cx="1651000" cy="1200329"/>
          </a:xfrm>
          <a:prstGeom prst="rect">
            <a:avLst/>
          </a:prstGeom>
          <a:noFill/>
        </p:spPr>
        <p:txBody>
          <a:bodyPr wrap="square">
            <a:spAutoFit/>
          </a:bodyPr>
          <a:lstStyle/>
          <a:p>
            <a:r>
              <a:rPr lang="tr-TR" dirty="0"/>
              <a:t> 0    7    0    0</a:t>
            </a:r>
          </a:p>
          <a:p>
            <a:r>
              <a:rPr lang="tr-TR" dirty="0"/>
              <a:t> 1    7    0    0</a:t>
            </a:r>
          </a:p>
          <a:p>
            <a:r>
              <a:rPr lang="tr-TR" dirty="0"/>
              <a:t> 0    1    0    5</a:t>
            </a:r>
          </a:p>
          <a:p>
            <a:r>
              <a:rPr lang="tr-TR" dirty="0"/>
              <a:t> 0    0    0   16</a:t>
            </a:r>
          </a:p>
        </p:txBody>
      </p:sp>
      <p:sp>
        <p:nvSpPr>
          <p:cNvPr id="23" name="Ok: Sağ 22">
            <a:extLst>
              <a:ext uri="{FF2B5EF4-FFF2-40B4-BE49-F238E27FC236}">
                <a16:creationId xmlns:a16="http://schemas.microsoft.com/office/drawing/2014/main" id="{0E109D09-97A6-EFBA-3F9F-8B94D09E7F1D}"/>
              </a:ext>
            </a:extLst>
          </p:cNvPr>
          <p:cNvSpPr/>
          <p:nvPr/>
        </p:nvSpPr>
        <p:spPr>
          <a:xfrm>
            <a:off x="4910535" y="2672941"/>
            <a:ext cx="533400" cy="20955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tr-TR" dirty="0"/>
          </a:p>
        </p:txBody>
      </p:sp>
      <p:sp>
        <p:nvSpPr>
          <p:cNvPr id="24" name="Ok: Sağ 23">
            <a:extLst>
              <a:ext uri="{FF2B5EF4-FFF2-40B4-BE49-F238E27FC236}">
                <a16:creationId xmlns:a16="http://schemas.microsoft.com/office/drawing/2014/main" id="{2D10E682-FAB4-E2C4-E3A4-A3122A5D6BF0}"/>
              </a:ext>
            </a:extLst>
          </p:cNvPr>
          <p:cNvSpPr/>
          <p:nvPr/>
        </p:nvSpPr>
        <p:spPr>
          <a:xfrm>
            <a:off x="6856412" y="2601223"/>
            <a:ext cx="533400" cy="20955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tr-TR"/>
          </a:p>
        </p:txBody>
      </p:sp>
      <p:sp>
        <p:nvSpPr>
          <p:cNvPr id="25" name="Ok: Sağ 24">
            <a:extLst>
              <a:ext uri="{FF2B5EF4-FFF2-40B4-BE49-F238E27FC236}">
                <a16:creationId xmlns:a16="http://schemas.microsoft.com/office/drawing/2014/main" id="{61BC1CB6-39FD-0C61-3A72-E503129FE919}"/>
              </a:ext>
            </a:extLst>
          </p:cNvPr>
          <p:cNvSpPr/>
          <p:nvPr/>
        </p:nvSpPr>
        <p:spPr>
          <a:xfrm>
            <a:off x="9581357" y="2538274"/>
            <a:ext cx="533400" cy="20955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tr-TR"/>
          </a:p>
        </p:txBody>
      </p:sp>
      <p:sp>
        <p:nvSpPr>
          <p:cNvPr id="26" name="Metin kutusu 25">
            <a:extLst>
              <a:ext uri="{FF2B5EF4-FFF2-40B4-BE49-F238E27FC236}">
                <a16:creationId xmlns:a16="http://schemas.microsoft.com/office/drawing/2014/main" id="{5D26D502-2F98-318F-6CD4-E8BCFB8D391F}"/>
              </a:ext>
            </a:extLst>
          </p:cNvPr>
          <p:cNvSpPr txBox="1"/>
          <p:nvPr/>
        </p:nvSpPr>
        <p:spPr>
          <a:xfrm>
            <a:off x="3692245" y="1912141"/>
            <a:ext cx="652743" cy="338554"/>
          </a:xfrm>
          <a:prstGeom prst="rect">
            <a:avLst/>
          </a:prstGeom>
          <a:noFill/>
        </p:spPr>
        <p:txBody>
          <a:bodyPr wrap="none" rtlCol="0">
            <a:spAutoFit/>
          </a:bodyPr>
          <a:lstStyle/>
          <a:p>
            <a:r>
              <a:rPr lang="tr-TR" sz="1600" dirty="0" err="1"/>
              <a:t>ReLU</a:t>
            </a:r>
            <a:endParaRPr lang="tr-TR" sz="1600" dirty="0"/>
          </a:p>
        </p:txBody>
      </p:sp>
      <p:pic>
        <p:nvPicPr>
          <p:cNvPr id="30" name="Resim 29" descr="ekran görüntüsü, metin, dikdörtgen, diyagram içeren bir resim&#10;&#10;Açıklama otomatik olarak oluşturuldu">
            <a:extLst>
              <a:ext uri="{FF2B5EF4-FFF2-40B4-BE49-F238E27FC236}">
                <a16:creationId xmlns:a16="http://schemas.microsoft.com/office/drawing/2014/main" id="{19A6CFF6-FE11-E999-790F-99634F750C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0099" y="3539058"/>
            <a:ext cx="7971802" cy="2962153"/>
          </a:xfrm>
          <a:prstGeom prst="rect">
            <a:avLst/>
          </a:prstGeom>
        </p:spPr>
      </p:pic>
    </p:spTree>
    <p:extLst>
      <p:ext uri="{BB962C8B-B14F-4D97-AF65-F5344CB8AC3E}">
        <p14:creationId xmlns:p14="http://schemas.microsoft.com/office/powerpoint/2010/main" val="2479008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7704"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5" name="Resim 4" descr="köpek cinsi, memeli, köpek, ev hayvanı içeren bir resim&#10;&#10;Açıklama otomatik olarak oluşturuldu">
            <a:extLst>
              <a:ext uri="{FF2B5EF4-FFF2-40B4-BE49-F238E27FC236}">
                <a16:creationId xmlns:a16="http://schemas.microsoft.com/office/drawing/2014/main" id="{020890F9-A030-9ABC-658B-9AA6654E1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6059" y="643467"/>
            <a:ext cx="5085586" cy="5410199"/>
          </a:xfrm>
          <a:prstGeom prst="rect">
            <a:avLst/>
          </a:prstGeom>
        </p:spPr>
      </p:pic>
      <p:sp>
        <p:nvSpPr>
          <p:cNvPr id="6" name="Rectangle 1">
            <a:extLst>
              <a:ext uri="{FF2B5EF4-FFF2-40B4-BE49-F238E27FC236}">
                <a16:creationId xmlns:a16="http://schemas.microsoft.com/office/drawing/2014/main" id="{AFEA7CE5-0506-0DE1-CF68-E6C52AD10E2E}"/>
              </a:ext>
            </a:extLst>
          </p:cNvPr>
          <p:cNvSpPr>
            <a:spLocks noChangeArrowheads="1"/>
          </p:cNvSpPr>
          <p:nvPr/>
        </p:nvSpPr>
        <p:spPr bwMode="auto">
          <a:xfrm>
            <a:off x="8184558" y="2638044"/>
            <a:ext cx="3363974" cy="341562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marR="0" lvl="0" indent="-228600" defTabSz="914400" fontAlgn="base">
              <a:spcBef>
                <a:spcPts val="1000"/>
              </a:spcBef>
              <a:spcAft>
                <a:spcPct val="0"/>
              </a:spcAft>
              <a:buClr>
                <a:schemeClr val="accent2"/>
              </a:buClr>
              <a:buSzTx/>
              <a:buFont typeface="Arial" panose="020B0604020202020204" pitchFamily="34" charset="0"/>
              <a:buChar char="•"/>
              <a:tabLst/>
            </a:pPr>
            <a:endParaRPr kumimoji="0" lang="en-US" altLang="tr-TR" b="0" i="0" u="none" strike="noStrike" cap="none" normalizeH="0" baseline="0">
              <a:ln>
                <a:noFill/>
              </a:ln>
              <a:solidFill>
                <a:schemeClr val="bg1"/>
              </a:solidFill>
              <a:effectLst/>
            </a:endParaRPr>
          </a:p>
          <a:p>
            <a:pPr marL="0" marR="0" lvl="0" indent="-228600" defTabSz="914400" fontAlgn="base">
              <a:spcBef>
                <a:spcPts val="1000"/>
              </a:spcBef>
              <a:spcAft>
                <a:spcPct val="0"/>
              </a:spcAft>
              <a:buClr>
                <a:schemeClr val="accent2"/>
              </a:buClr>
              <a:buSzTx/>
              <a:buFont typeface="Arial" panose="020B0604020202020204" pitchFamily="34" charset="0"/>
              <a:buChar char="•"/>
              <a:tabLst/>
            </a:pPr>
            <a:r>
              <a:rPr kumimoji="0" lang="en-US" altLang="tr-TR" b="0" i="0" u="none" strike="noStrike" cap="none" normalizeH="0" baseline="0">
                <a:ln>
                  <a:noFill/>
                </a:ln>
                <a:solidFill>
                  <a:schemeClr val="bg1"/>
                </a:solidFill>
                <a:effectLst/>
              </a:rPr>
              <a:t>Modelin anlamlandırabileceği bir giriş verisi sağlar.</a:t>
            </a:r>
          </a:p>
          <a:p>
            <a:pPr marL="0" marR="0" lvl="0" indent="-228600" defTabSz="914400" fontAlgn="base">
              <a:spcBef>
                <a:spcPts val="1000"/>
              </a:spcBef>
              <a:spcAft>
                <a:spcPct val="0"/>
              </a:spcAft>
              <a:buClr>
                <a:schemeClr val="accent2"/>
              </a:buClr>
              <a:buSzTx/>
              <a:buFont typeface="Arial" panose="020B0604020202020204" pitchFamily="34" charset="0"/>
              <a:buChar char="•"/>
              <a:tabLst/>
            </a:pPr>
            <a:r>
              <a:rPr kumimoji="0" lang="en-US" altLang="tr-TR" b="0" i="0" u="none" strike="noStrike" cap="none" normalizeH="0" baseline="0">
                <a:ln>
                  <a:noFill/>
                </a:ln>
                <a:solidFill>
                  <a:schemeClr val="bg1"/>
                </a:solidFill>
                <a:effectLst/>
              </a:rPr>
              <a:t>Görüntü (170x170x3) piksele boyutlandırılır ve normalize edilir (değerler 0-1 arasında). </a:t>
            </a:r>
          </a:p>
        </p:txBody>
      </p:sp>
    </p:spTree>
    <p:extLst>
      <p:ext uri="{BB962C8B-B14F-4D97-AF65-F5344CB8AC3E}">
        <p14:creationId xmlns:p14="http://schemas.microsoft.com/office/powerpoint/2010/main" val="3605552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descr="ekran görüntüsü içeren bir resim&#10;&#10;Açıklama otomatik olarak oluşturuldu">
            <a:extLst>
              <a:ext uri="{FF2B5EF4-FFF2-40B4-BE49-F238E27FC236}">
                <a16:creationId xmlns:a16="http://schemas.microsoft.com/office/drawing/2014/main" id="{6EACDDC0-C796-4B6E-D8A2-0E7861C5F49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7878" y="327804"/>
            <a:ext cx="11009099" cy="3554083"/>
          </a:xfrm>
        </p:spPr>
      </p:pic>
      <p:sp>
        <p:nvSpPr>
          <p:cNvPr id="9" name="Metin kutusu 8">
            <a:extLst>
              <a:ext uri="{FF2B5EF4-FFF2-40B4-BE49-F238E27FC236}">
                <a16:creationId xmlns:a16="http://schemas.microsoft.com/office/drawing/2014/main" id="{A9E4BBAC-6ABE-9AF1-DAA1-C225A161F1A9}"/>
              </a:ext>
            </a:extLst>
          </p:cNvPr>
          <p:cNvSpPr txBox="1"/>
          <p:nvPr/>
        </p:nvSpPr>
        <p:spPr>
          <a:xfrm>
            <a:off x="2007079" y="4345681"/>
            <a:ext cx="9155502" cy="1477328"/>
          </a:xfrm>
          <a:prstGeom prst="rect">
            <a:avLst/>
          </a:prstGeom>
          <a:noFill/>
        </p:spPr>
        <p:txBody>
          <a:bodyPr wrap="square">
            <a:spAutoFit/>
          </a:bodyPr>
          <a:lstStyle/>
          <a:p>
            <a:r>
              <a:rPr lang="tr-TR" b="1" dirty="0"/>
              <a:t>Conv2D (32 Filtre)</a:t>
            </a:r>
            <a:r>
              <a:rPr lang="tr-TR" dirty="0"/>
              <a:t>:</a:t>
            </a:r>
          </a:p>
          <a:p>
            <a:r>
              <a:rPr lang="tr-TR" b="1" dirty="0"/>
              <a:t>Matematiksel İşlem</a:t>
            </a:r>
            <a:r>
              <a:rPr lang="tr-TR" dirty="0"/>
              <a:t>: Z[</a:t>
            </a:r>
            <a:r>
              <a:rPr lang="tr-TR" dirty="0" err="1"/>
              <a:t>i,j</a:t>
            </a:r>
            <a:r>
              <a:rPr lang="tr-TR" dirty="0"/>
              <a:t>]=</a:t>
            </a:r>
            <a:r>
              <a:rPr lang="tr-TR" dirty="0" err="1"/>
              <a:t>ReLU</a:t>
            </a:r>
            <a:r>
              <a:rPr lang="tr-TR" dirty="0"/>
              <a:t>(W∗X[i:i+3,j:j+3]+b)</a:t>
            </a:r>
          </a:p>
          <a:p>
            <a:pPr marL="742950" lvl="1" indent="-285750">
              <a:buFont typeface="Arial" panose="020B0604020202020204" pitchFamily="34" charset="0"/>
              <a:buChar char="•"/>
            </a:pPr>
            <a:r>
              <a:rPr lang="tr-TR" dirty="0"/>
              <a:t>W: Filtre, X: Giriş görüntüsü.</a:t>
            </a:r>
          </a:p>
          <a:p>
            <a:pPr marL="742950" lvl="1" indent="-285750">
              <a:buFont typeface="Arial" panose="020B0604020202020204" pitchFamily="34" charset="0"/>
              <a:buChar char="•"/>
            </a:pPr>
            <a:r>
              <a:rPr lang="tr-TR" dirty="0"/>
              <a:t>Her 3x3 filtre, görüntü üzerindeki belirli özellikleri (kenarlar, dokular) çıkarır.</a:t>
            </a:r>
          </a:p>
          <a:p>
            <a:r>
              <a:rPr lang="tr-TR" b="1" dirty="0"/>
              <a:t>Amaç</a:t>
            </a:r>
            <a:r>
              <a:rPr lang="tr-TR" dirty="0"/>
              <a:t>: Görüntüden anlamlı özellikler çıkarır.</a:t>
            </a:r>
          </a:p>
        </p:txBody>
      </p:sp>
    </p:spTree>
    <p:extLst>
      <p:ext uri="{BB962C8B-B14F-4D97-AF65-F5344CB8AC3E}">
        <p14:creationId xmlns:p14="http://schemas.microsoft.com/office/powerpoint/2010/main" val="15151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descr="ekran görüntüsü, yeşil içeren bir resim&#10;&#10;Açıklama otomatik olarak oluşturuldu">
            <a:extLst>
              <a:ext uri="{FF2B5EF4-FFF2-40B4-BE49-F238E27FC236}">
                <a16:creationId xmlns:a16="http://schemas.microsoft.com/office/drawing/2014/main" id="{47E994CD-C9A0-693C-E48B-42E7E0780BF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2138" y="215892"/>
            <a:ext cx="11668770" cy="3687368"/>
          </a:xfrm>
        </p:spPr>
      </p:pic>
      <p:sp>
        <p:nvSpPr>
          <p:cNvPr id="9" name="Metin kutusu 8">
            <a:extLst>
              <a:ext uri="{FF2B5EF4-FFF2-40B4-BE49-F238E27FC236}">
                <a16:creationId xmlns:a16="http://schemas.microsoft.com/office/drawing/2014/main" id="{A3511436-DD89-F60C-5376-34A8AEFFE7C6}"/>
              </a:ext>
            </a:extLst>
          </p:cNvPr>
          <p:cNvSpPr txBox="1"/>
          <p:nvPr/>
        </p:nvSpPr>
        <p:spPr>
          <a:xfrm>
            <a:off x="1253706" y="4468338"/>
            <a:ext cx="10184921" cy="1200329"/>
          </a:xfrm>
          <a:prstGeom prst="rect">
            <a:avLst/>
          </a:prstGeom>
          <a:noFill/>
        </p:spPr>
        <p:txBody>
          <a:bodyPr wrap="square">
            <a:spAutoFit/>
          </a:bodyPr>
          <a:lstStyle/>
          <a:p>
            <a:r>
              <a:rPr lang="tr-TR" b="1" dirty="0"/>
              <a:t>MaxPooling2D</a:t>
            </a:r>
            <a:r>
              <a:rPr lang="tr-TR" dirty="0"/>
              <a:t>:</a:t>
            </a:r>
          </a:p>
          <a:p>
            <a:r>
              <a:rPr lang="tr-TR" b="1" dirty="0"/>
              <a:t>Matematiksel İşlem</a:t>
            </a:r>
            <a:r>
              <a:rPr lang="tr-TR" dirty="0"/>
              <a:t>: Y[</a:t>
            </a:r>
            <a:r>
              <a:rPr lang="tr-TR" dirty="0" err="1"/>
              <a:t>i,j</a:t>
            </a:r>
            <a:r>
              <a:rPr lang="tr-TR" dirty="0"/>
              <a:t>]=</a:t>
            </a:r>
            <a:r>
              <a:rPr lang="tr-TR" dirty="0" err="1"/>
              <a:t>max</a:t>
            </a:r>
            <a:r>
              <a:rPr lang="tr-TR" dirty="0"/>
              <a:t>⁡(X[i:i+2,j:j+2])</a:t>
            </a:r>
          </a:p>
          <a:p>
            <a:pPr marL="742950" lvl="1" indent="-285750">
              <a:buFont typeface="Arial" panose="020B0604020202020204" pitchFamily="34" charset="0"/>
              <a:buChar char="•"/>
            </a:pPr>
            <a:r>
              <a:rPr lang="tr-TR" dirty="0"/>
              <a:t>2x2 penceredeki maksimum değer alınır.</a:t>
            </a:r>
          </a:p>
          <a:p>
            <a:r>
              <a:rPr lang="tr-TR" b="1" dirty="0"/>
              <a:t>Amaç</a:t>
            </a:r>
            <a:r>
              <a:rPr lang="tr-TR" dirty="0"/>
              <a:t>: Özellik haritalarının boyutlarını küçültmek ve önemli özellikleri korumak.</a:t>
            </a:r>
          </a:p>
        </p:txBody>
      </p:sp>
    </p:spTree>
    <p:extLst>
      <p:ext uri="{BB962C8B-B14F-4D97-AF65-F5344CB8AC3E}">
        <p14:creationId xmlns:p14="http://schemas.microsoft.com/office/powerpoint/2010/main" val="21454543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descr="ekran görüntüsü içeren bir resim&#10;&#10;Açıklama otomatik olarak oluşturuldu">
            <a:extLst>
              <a:ext uri="{FF2B5EF4-FFF2-40B4-BE49-F238E27FC236}">
                <a16:creationId xmlns:a16="http://schemas.microsoft.com/office/drawing/2014/main" id="{C208B940-8C69-90FD-4CC1-5D6683C0BE6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4435" y="216743"/>
            <a:ext cx="11643129" cy="3686516"/>
          </a:xfrm>
        </p:spPr>
      </p:pic>
      <p:sp>
        <p:nvSpPr>
          <p:cNvPr id="7" name="Metin kutusu 6">
            <a:extLst>
              <a:ext uri="{FF2B5EF4-FFF2-40B4-BE49-F238E27FC236}">
                <a16:creationId xmlns:a16="http://schemas.microsoft.com/office/drawing/2014/main" id="{53A8160B-7C06-8FE1-52F5-599B77D933A6}"/>
              </a:ext>
            </a:extLst>
          </p:cNvPr>
          <p:cNvSpPr txBox="1"/>
          <p:nvPr/>
        </p:nvSpPr>
        <p:spPr>
          <a:xfrm>
            <a:off x="2772523" y="4548368"/>
            <a:ext cx="8620096" cy="923330"/>
          </a:xfrm>
          <a:prstGeom prst="rect">
            <a:avLst/>
          </a:prstGeom>
          <a:noFill/>
        </p:spPr>
        <p:txBody>
          <a:bodyPr wrap="square">
            <a:spAutoFit/>
          </a:bodyPr>
          <a:lstStyle/>
          <a:p>
            <a:r>
              <a:rPr lang="tr-TR" b="1" dirty="0"/>
              <a:t>Conv2D (64 Filtre)</a:t>
            </a:r>
            <a:r>
              <a:rPr lang="tr-TR" dirty="0"/>
              <a:t>:</a:t>
            </a:r>
          </a:p>
          <a:p>
            <a:r>
              <a:rPr lang="tr-TR" b="1" dirty="0"/>
              <a:t>Matematiksel İşlem</a:t>
            </a:r>
            <a:r>
              <a:rPr lang="tr-TR" dirty="0"/>
              <a:t>: İlk Conv2D ile aynı ama daha fazla filtre ile.</a:t>
            </a:r>
          </a:p>
          <a:p>
            <a:r>
              <a:rPr lang="tr-TR" b="1" dirty="0"/>
              <a:t>Amaç</a:t>
            </a:r>
            <a:r>
              <a:rPr lang="tr-TR" dirty="0"/>
              <a:t>: Daha derin özellikleri öğrenmek.</a:t>
            </a:r>
          </a:p>
        </p:txBody>
      </p:sp>
    </p:spTree>
    <p:extLst>
      <p:ext uri="{BB962C8B-B14F-4D97-AF65-F5344CB8AC3E}">
        <p14:creationId xmlns:p14="http://schemas.microsoft.com/office/powerpoint/2010/main" val="510110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descr="ekran görüntüsü, yeşil içeren bir resim&#10;&#10;Açıklama otomatik olarak oluşturuldu">
            <a:extLst>
              <a:ext uri="{FF2B5EF4-FFF2-40B4-BE49-F238E27FC236}">
                <a16:creationId xmlns:a16="http://schemas.microsoft.com/office/drawing/2014/main" id="{122EC3D0-E640-D289-DCD1-FAD96371F9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6667" y="474025"/>
            <a:ext cx="11678666" cy="3678021"/>
          </a:xfrm>
        </p:spPr>
      </p:pic>
      <p:sp>
        <p:nvSpPr>
          <p:cNvPr id="6" name="Rectangle 1">
            <a:extLst>
              <a:ext uri="{FF2B5EF4-FFF2-40B4-BE49-F238E27FC236}">
                <a16:creationId xmlns:a16="http://schemas.microsoft.com/office/drawing/2014/main" id="{FD83EDC6-B78A-2829-E20E-1DA1BBEE09A4}"/>
              </a:ext>
            </a:extLst>
          </p:cNvPr>
          <p:cNvSpPr>
            <a:spLocks noChangeArrowheads="1"/>
          </p:cNvSpPr>
          <p:nvPr/>
        </p:nvSpPr>
        <p:spPr bwMode="auto">
          <a:xfrm>
            <a:off x="593678" y="4427829"/>
            <a:ext cx="17698872"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tr-TR" altLang="tr-TR" sz="1800" b="1" i="0" u="none" strike="noStrike" cap="none" normalizeH="0" baseline="0" dirty="0">
                <a:ln>
                  <a:noFill/>
                </a:ln>
                <a:solidFill>
                  <a:schemeClr val="tx1"/>
                </a:solidFill>
                <a:effectLst/>
                <a:latin typeface="Arial" panose="020B0604020202020204" pitchFamily="34" charset="0"/>
              </a:rPr>
              <a:t>MaxPooling2D</a:t>
            </a:r>
            <a:r>
              <a:rPr kumimoji="0" lang="tr-TR" altLang="tr-TR"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Amaç</a:t>
            </a:r>
            <a:r>
              <a:rPr kumimoji="0" lang="tr-TR" altLang="tr-TR" sz="1800" b="0" i="0" u="none" strike="noStrike" cap="none" normalizeH="0" baseline="0" dirty="0">
                <a:ln>
                  <a:noFill/>
                </a:ln>
                <a:solidFill>
                  <a:schemeClr val="tx1"/>
                </a:solidFill>
                <a:effectLst/>
                <a:latin typeface="Arial" panose="020B0604020202020204" pitchFamily="34" charset="0"/>
              </a:rPr>
              <a:t>: Daha fazla özetleme yaparak boyutları küçültmek.</a:t>
            </a:r>
          </a:p>
          <a:p>
            <a:pPr marL="0" marR="0" lvl="0" indent="0" algn="l" defTabSz="914400" rtl="0" eaLnBrk="0" fontAlgn="base" latinLnBrk="0" hangingPunct="0">
              <a:lnSpc>
                <a:spcPct val="100000"/>
              </a:lnSpc>
              <a:spcBef>
                <a:spcPct val="0"/>
              </a:spcBef>
              <a:spcAft>
                <a:spcPct val="0"/>
              </a:spcAft>
              <a:buClrTx/>
              <a:buSzTx/>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tr-TR" altLang="tr-TR" sz="1800" b="1" i="0" u="none" strike="noStrike" cap="none" normalizeH="0" baseline="0" dirty="0" err="1">
                <a:ln>
                  <a:noFill/>
                </a:ln>
                <a:solidFill>
                  <a:schemeClr val="tx1"/>
                </a:solidFill>
                <a:effectLst/>
                <a:latin typeface="Arial" panose="020B0604020202020204" pitchFamily="34" charset="0"/>
              </a:rPr>
              <a:t>Flatten</a:t>
            </a:r>
            <a:r>
              <a:rPr kumimoji="0" lang="tr-TR" altLang="tr-TR"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Matematiksel İşlem</a:t>
            </a:r>
            <a:r>
              <a:rPr kumimoji="0" lang="tr-TR" altLang="tr-TR" sz="1800" b="0" i="0" u="none" strike="noStrike" cap="none" normalizeH="0" baseline="0" dirty="0">
                <a:ln>
                  <a:noFill/>
                </a:ln>
                <a:solidFill>
                  <a:schemeClr val="tx1"/>
                </a:solidFill>
                <a:effectLst/>
                <a:latin typeface="Arial" panose="020B0604020202020204" pitchFamily="34" charset="0"/>
              </a:rPr>
              <a:t>: 3D özelliği 1D vektöre çevirir.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Amaç</a:t>
            </a:r>
            <a:r>
              <a:rPr kumimoji="0" lang="tr-TR" altLang="tr-TR" sz="1800" b="0" i="0" u="none" strike="noStrike" cap="none" normalizeH="0" baseline="0" dirty="0">
                <a:ln>
                  <a:noFill/>
                </a:ln>
                <a:solidFill>
                  <a:schemeClr val="tx1"/>
                </a:solidFill>
                <a:effectLst/>
                <a:latin typeface="Arial" panose="020B0604020202020204" pitchFamily="34" charset="0"/>
              </a:rPr>
              <a:t>: Dense katmanlara giriş için veriyi hazırlar.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pic>
        <p:nvPicPr>
          <p:cNvPr id="8" name="Resim 7" descr="ekran görüntüsü, renklilik, dikdörtgen, çizgi içeren bir resim&#10;&#10;Açıklama otomatik olarak oluşturuldu">
            <a:extLst>
              <a:ext uri="{FF2B5EF4-FFF2-40B4-BE49-F238E27FC236}">
                <a16:creationId xmlns:a16="http://schemas.microsoft.com/office/drawing/2014/main" id="{11DCAA5E-4D50-2AA0-0766-86AE847C0750}"/>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055894" y="3956798"/>
            <a:ext cx="5136106" cy="2824082"/>
          </a:xfrm>
          <a:prstGeom prst="rect">
            <a:avLst/>
          </a:prstGeom>
        </p:spPr>
      </p:pic>
      <p:sp>
        <p:nvSpPr>
          <p:cNvPr id="9" name="Metin kutusu 8">
            <a:extLst>
              <a:ext uri="{FF2B5EF4-FFF2-40B4-BE49-F238E27FC236}">
                <a16:creationId xmlns:a16="http://schemas.microsoft.com/office/drawing/2014/main" id="{CB7DCC9E-DE0B-3865-23FA-1459EC0A482C}"/>
              </a:ext>
            </a:extLst>
          </p:cNvPr>
          <p:cNvSpPr txBox="1"/>
          <p:nvPr/>
        </p:nvSpPr>
        <p:spPr>
          <a:xfrm>
            <a:off x="9150824" y="6935651"/>
            <a:ext cx="3041176" cy="369332"/>
          </a:xfrm>
          <a:prstGeom prst="rect">
            <a:avLst/>
          </a:prstGeom>
          <a:noFill/>
        </p:spPr>
        <p:txBody>
          <a:bodyPr wrap="square" rtlCol="0">
            <a:spAutoFit/>
          </a:bodyPr>
          <a:lstStyle/>
          <a:p>
            <a:r>
              <a:rPr lang="tr-TR" sz="900">
                <a:hlinkClick r:id="rId4" tooltip="https://stackoverflow.com/questions/43237124/role-of-flatten-in-keras"/>
              </a:rPr>
              <a:t>Bu Fotoğraf</a:t>
            </a:r>
            <a:r>
              <a:rPr lang="tr-TR" sz="900"/>
              <a:t>, Bilinmeyen Yazar, </a:t>
            </a:r>
            <a:r>
              <a:rPr lang="tr-TR" sz="900">
                <a:hlinkClick r:id="rId5" tooltip="https://creativecommons.org/licenses/by-sa/3.0/"/>
              </a:rPr>
              <a:t>CC BY-SA</a:t>
            </a:r>
            <a:r>
              <a:rPr lang="tr-TR" sz="900"/>
              <a:t> altında lisanslanmıştır</a:t>
            </a:r>
          </a:p>
        </p:txBody>
      </p:sp>
    </p:spTree>
    <p:extLst>
      <p:ext uri="{BB962C8B-B14F-4D97-AF65-F5344CB8AC3E}">
        <p14:creationId xmlns:p14="http://schemas.microsoft.com/office/powerpoint/2010/main" val="1853146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06C695B5-0F08-F2A4-EC95-D3EAB3F2C0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7546" y="411066"/>
            <a:ext cx="11666833" cy="1341685"/>
          </a:xfrm>
          <a:prstGeom prst="rect">
            <a:avLst/>
          </a:prstGeom>
        </p:spPr>
      </p:pic>
      <p:sp>
        <p:nvSpPr>
          <p:cNvPr id="6" name="Rectangle 1">
            <a:extLst>
              <a:ext uri="{FF2B5EF4-FFF2-40B4-BE49-F238E27FC236}">
                <a16:creationId xmlns:a16="http://schemas.microsoft.com/office/drawing/2014/main" id="{7FC5CDCC-BB10-B949-3231-0CE6D3E78D22}"/>
              </a:ext>
            </a:extLst>
          </p:cNvPr>
          <p:cNvSpPr>
            <a:spLocks noChangeArrowheads="1"/>
          </p:cNvSpPr>
          <p:nvPr/>
        </p:nvSpPr>
        <p:spPr bwMode="auto">
          <a:xfrm>
            <a:off x="805217" y="2569404"/>
            <a:ext cx="10249469"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tabLst/>
            </a:pPr>
            <a:r>
              <a:rPr kumimoji="0" lang="tr-TR" altLang="tr-TR" b="1" i="0" u="none" strike="noStrike" cap="none" normalizeH="0" baseline="0" dirty="0">
                <a:ln>
                  <a:noFill/>
                </a:ln>
                <a:solidFill>
                  <a:schemeClr val="tx1"/>
                </a:solidFill>
                <a:effectLst/>
                <a:latin typeface="Arial" panose="020B0604020202020204" pitchFamily="34" charset="0"/>
              </a:rPr>
              <a:t>Dense (128 Nöron)</a:t>
            </a:r>
            <a:r>
              <a:rPr kumimoji="0" lang="tr-TR" altLang="tr-TR"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spcBef>
                <a:spcPct val="0"/>
              </a:spcBef>
              <a:spcAft>
                <a:spcPts val="600"/>
              </a:spcAft>
              <a:buClrTx/>
              <a:buSzTx/>
              <a:buFontTx/>
              <a:buChar char="•"/>
              <a:tabLst/>
            </a:pPr>
            <a:r>
              <a:rPr kumimoji="0" lang="tr-TR" altLang="tr-TR" b="1" i="0" u="none" strike="noStrike" cap="none" normalizeH="0" baseline="0" dirty="0">
                <a:ln>
                  <a:noFill/>
                </a:ln>
                <a:solidFill>
                  <a:schemeClr val="tx1"/>
                </a:solidFill>
                <a:effectLst/>
                <a:latin typeface="Arial" panose="020B0604020202020204" pitchFamily="34" charset="0"/>
              </a:rPr>
              <a:t>Matematiksel İşlem</a:t>
            </a:r>
            <a:r>
              <a:rPr kumimoji="0" lang="tr-TR" altLang="tr-TR" b="0" i="0" u="none" strike="noStrike" cap="none" normalizeH="0" baseline="0" dirty="0">
                <a:ln>
                  <a:noFill/>
                </a:ln>
                <a:solidFill>
                  <a:schemeClr val="tx1"/>
                </a:solidFill>
                <a:effectLst/>
                <a:latin typeface="Arial" panose="020B0604020202020204" pitchFamily="34" charset="0"/>
              </a:rPr>
              <a:t>: Z=</a:t>
            </a:r>
            <a:r>
              <a:rPr kumimoji="0" lang="tr-TR" altLang="tr-TR" b="0" i="0" u="none" strike="noStrike" cap="none" normalizeH="0" baseline="0" dirty="0" err="1">
                <a:ln>
                  <a:noFill/>
                </a:ln>
                <a:solidFill>
                  <a:schemeClr val="tx1"/>
                </a:solidFill>
                <a:effectLst/>
                <a:latin typeface="Arial" panose="020B0604020202020204" pitchFamily="34" charset="0"/>
              </a:rPr>
              <a:t>ReLU</a:t>
            </a:r>
            <a:r>
              <a:rPr kumimoji="0" lang="tr-TR" altLang="tr-TR" b="0" i="0" u="none" strike="noStrike" cap="none" normalizeH="0" baseline="0" dirty="0">
                <a:ln>
                  <a:noFill/>
                </a:ln>
                <a:solidFill>
                  <a:schemeClr val="tx1"/>
                </a:solidFill>
                <a:effectLst/>
                <a:latin typeface="Arial" panose="020B0604020202020204" pitchFamily="34" charset="0"/>
              </a:rPr>
              <a:t>(</a:t>
            </a:r>
            <a:r>
              <a:rPr kumimoji="0" lang="tr-TR" altLang="tr-TR" b="0" i="0" u="none" strike="noStrike" cap="none" normalizeH="0" baseline="0" dirty="0" err="1">
                <a:ln>
                  <a:noFill/>
                </a:ln>
                <a:solidFill>
                  <a:schemeClr val="tx1"/>
                </a:solidFill>
                <a:effectLst/>
                <a:latin typeface="Arial" panose="020B0604020202020204" pitchFamily="34" charset="0"/>
              </a:rPr>
              <a:t>W⋅X+b</a:t>
            </a:r>
            <a:r>
              <a:rPr kumimoji="0" lang="tr-TR" altLang="tr-TR"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spcBef>
                <a:spcPct val="0"/>
              </a:spcBef>
              <a:spcAft>
                <a:spcPts val="600"/>
              </a:spcAft>
              <a:buClrTx/>
              <a:buSzTx/>
              <a:buFontTx/>
              <a:buChar char="•"/>
              <a:tabLst/>
            </a:pPr>
            <a:r>
              <a:rPr kumimoji="0" lang="tr-TR" altLang="tr-TR" b="1" i="0" u="none" strike="noStrike" cap="none" normalizeH="0" baseline="0" dirty="0">
                <a:ln>
                  <a:noFill/>
                </a:ln>
                <a:solidFill>
                  <a:schemeClr val="tx1"/>
                </a:solidFill>
                <a:effectLst/>
                <a:latin typeface="Arial" panose="020B0604020202020204" pitchFamily="34" charset="0"/>
              </a:rPr>
              <a:t>Amaç</a:t>
            </a:r>
            <a:r>
              <a:rPr kumimoji="0" lang="tr-TR" altLang="tr-TR" b="0" i="0" u="none" strike="noStrike" cap="none" normalizeH="0" baseline="0" dirty="0">
                <a:ln>
                  <a:noFill/>
                </a:ln>
                <a:solidFill>
                  <a:schemeClr val="tx1"/>
                </a:solidFill>
                <a:effectLst/>
                <a:latin typeface="Arial" panose="020B0604020202020204" pitchFamily="34" charset="0"/>
              </a:rPr>
              <a:t>: Çıkarılan özellikleri öğrenir.</a:t>
            </a:r>
          </a:p>
          <a:p>
            <a:pPr marL="0" marR="0" lvl="0" indent="0" algn="l" defTabSz="914400" rtl="0" eaLnBrk="0" fontAlgn="base" latinLnBrk="0" hangingPunct="0">
              <a:spcBef>
                <a:spcPct val="0"/>
              </a:spcBef>
              <a:spcAft>
                <a:spcPts val="600"/>
              </a:spcAft>
              <a:buClrTx/>
              <a:buSzTx/>
              <a:buFontTx/>
              <a:buChar char="•"/>
              <a:tabLst/>
            </a:pPr>
            <a:endParaRPr kumimoji="0" lang="tr-TR" altLang="tr-TR"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ts val="600"/>
              </a:spcAft>
              <a:buClrTx/>
              <a:buSzTx/>
              <a:tabLst/>
            </a:pPr>
            <a:r>
              <a:rPr kumimoji="0" lang="tr-TR" altLang="tr-TR" b="1" i="0" u="none" strike="noStrike" cap="none" normalizeH="0" baseline="0" dirty="0">
                <a:ln>
                  <a:noFill/>
                </a:ln>
                <a:solidFill>
                  <a:schemeClr val="tx1"/>
                </a:solidFill>
                <a:effectLst/>
                <a:latin typeface="Arial" panose="020B0604020202020204" pitchFamily="34" charset="0"/>
              </a:rPr>
              <a:t>Dense (2 Nöron)</a:t>
            </a:r>
            <a:r>
              <a:rPr kumimoji="0" lang="tr-TR" altLang="tr-TR"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spcBef>
                <a:spcPct val="0"/>
              </a:spcBef>
              <a:spcAft>
                <a:spcPts val="600"/>
              </a:spcAft>
              <a:buClrTx/>
              <a:buSzTx/>
              <a:buFontTx/>
              <a:buChar char="•"/>
              <a:tabLst/>
            </a:pPr>
            <a:r>
              <a:rPr kumimoji="0" lang="tr-TR" altLang="tr-TR" b="1" i="0" u="none" strike="noStrike" cap="none" normalizeH="0" baseline="0" dirty="0">
                <a:ln>
                  <a:noFill/>
                </a:ln>
                <a:solidFill>
                  <a:schemeClr val="tx1"/>
                </a:solidFill>
                <a:effectLst/>
                <a:latin typeface="Arial" panose="020B0604020202020204" pitchFamily="34" charset="0"/>
              </a:rPr>
              <a:t>Matematiksel İşlem</a:t>
            </a:r>
            <a:r>
              <a:rPr kumimoji="0" lang="tr-TR" altLang="tr-TR" b="0" i="0" u="none" strike="noStrike" cap="none" normalizeH="0" baseline="0" dirty="0">
                <a:ln>
                  <a:noFill/>
                </a:ln>
                <a:solidFill>
                  <a:schemeClr val="tx1"/>
                </a:solidFill>
                <a:effectLst/>
                <a:latin typeface="Arial" panose="020B0604020202020204" pitchFamily="34" charset="0"/>
              </a:rPr>
              <a:t>: </a:t>
            </a:r>
            <a:r>
              <a:rPr kumimoji="0" lang="tr-TR" altLang="tr-TR" b="0" i="0" u="none" strike="noStrike" cap="none" normalizeH="0" baseline="0" dirty="0" err="1">
                <a:ln>
                  <a:noFill/>
                </a:ln>
                <a:solidFill>
                  <a:schemeClr val="tx1"/>
                </a:solidFill>
                <a:effectLst/>
                <a:latin typeface="Arial" panose="020B0604020202020204" pitchFamily="34" charset="0"/>
              </a:rPr>
              <a:t>Softmax</a:t>
            </a:r>
            <a:r>
              <a:rPr kumimoji="0" lang="tr-TR" altLang="tr-TR" b="0" i="0" u="none" strike="noStrike" cap="none" normalizeH="0" baseline="0" dirty="0">
                <a:ln>
                  <a:noFill/>
                </a:ln>
                <a:solidFill>
                  <a:schemeClr val="tx1"/>
                </a:solidFill>
                <a:effectLst/>
                <a:latin typeface="Arial" panose="020B0604020202020204" pitchFamily="34" charset="0"/>
              </a:rPr>
              <a:t> fonksiyonu ile sınıflandırma yapılır.</a:t>
            </a:r>
          </a:p>
          <a:p>
            <a:pPr marL="0" marR="0" lvl="0" indent="0" algn="l" defTabSz="914400" rtl="0" eaLnBrk="0" fontAlgn="base" latinLnBrk="0" hangingPunct="0">
              <a:spcBef>
                <a:spcPct val="0"/>
              </a:spcBef>
              <a:spcAft>
                <a:spcPts val="600"/>
              </a:spcAft>
              <a:buClrTx/>
              <a:buSzTx/>
              <a:buFontTx/>
              <a:buChar char="•"/>
              <a:tabLst/>
            </a:pPr>
            <a:r>
              <a:rPr kumimoji="0" lang="tr-TR" altLang="tr-TR" b="1" i="0" u="none" strike="noStrike" cap="none" normalizeH="0" baseline="0" dirty="0">
                <a:ln>
                  <a:noFill/>
                </a:ln>
                <a:solidFill>
                  <a:schemeClr val="tx1"/>
                </a:solidFill>
                <a:effectLst/>
                <a:latin typeface="Arial" panose="020B0604020202020204" pitchFamily="34" charset="0"/>
              </a:rPr>
              <a:t>Amaç</a:t>
            </a:r>
            <a:r>
              <a:rPr kumimoji="0" lang="tr-TR" altLang="tr-TR" b="0" i="0" u="none" strike="noStrike" cap="none" normalizeH="0" baseline="0" dirty="0">
                <a:ln>
                  <a:noFill/>
                </a:ln>
                <a:solidFill>
                  <a:schemeClr val="tx1"/>
                </a:solidFill>
                <a:effectLst/>
                <a:latin typeface="Arial" panose="020B0604020202020204" pitchFamily="34" charset="0"/>
              </a:rPr>
              <a:t>: İki sınıftan birine ait olasılıkları tahmin eder.</a:t>
            </a:r>
          </a:p>
          <a:p>
            <a:pPr marL="0" marR="0" lvl="0" indent="0" algn="l" defTabSz="914400" rtl="0" eaLnBrk="0" fontAlgn="base" latinLnBrk="0" hangingPunct="0">
              <a:spcBef>
                <a:spcPct val="0"/>
              </a:spcBef>
              <a:spcAft>
                <a:spcPts val="600"/>
              </a:spcAft>
              <a:buClrTx/>
              <a:buSzTx/>
              <a:buFontTx/>
              <a:buChar char="•"/>
              <a:tabLst/>
            </a:pPr>
            <a:endParaRPr lang="tr-TR" altLang="tr-TR" dirty="0">
              <a:latin typeface="Arial" panose="020B0604020202020204" pitchFamily="34" charset="0"/>
            </a:endParaRPr>
          </a:p>
          <a:p>
            <a:pPr marL="0" marR="0" lvl="0" indent="0" algn="l" defTabSz="914400" rtl="0" eaLnBrk="0" fontAlgn="base" latinLnBrk="0" hangingPunct="0">
              <a:spcBef>
                <a:spcPct val="0"/>
              </a:spcBef>
              <a:spcAft>
                <a:spcPts val="600"/>
              </a:spcAft>
              <a:buClrTx/>
              <a:buSzTx/>
              <a:tabLst/>
            </a:pPr>
            <a:r>
              <a:rPr lang="tr-TR" dirty="0"/>
              <a:t>Model, görüntünün </a:t>
            </a:r>
            <a:r>
              <a:rPr lang="tr-TR" b="1" dirty="0" err="1"/>
              <a:t>Cancer</a:t>
            </a:r>
            <a:r>
              <a:rPr lang="tr-TR" dirty="0"/>
              <a:t> sınıfına ait olduğunu tahmin etti.</a:t>
            </a:r>
            <a:endParaRPr kumimoji="0" lang="tr-TR" altLang="tr-TR"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ts val="600"/>
              </a:spcAft>
              <a:buClrTx/>
              <a:buSzTx/>
              <a:buFontTx/>
              <a:buNone/>
              <a:tabLst/>
            </a:pPr>
            <a:endParaRPr kumimoji="0" lang="tr-TR" altLang="tr-TR"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691705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D47179F-1A22-9B73-EB1A-2BD52BB17984}"/>
              </a:ext>
            </a:extLst>
          </p:cNvPr>
          <p:cNvSpPr>
            <a:spLocks noGrp="1"/>
          </p:cNvSpPr>
          <p:nvPr>
            <p:ph type="title"/>
          </p:nvPr>
        </p:nvSpPr>
        <p:spPr>
          <a:xfrm>
            <a:off x="5445496" y="978776"/>
            <a:ext cx="5925310" cy="1174991"/>
          </a:xfrm>
        </p:spPr>
        <p:txBody>
          <a:bodyPr>
            <a:normAutofit/>
          </a:bodyPr>
          <a:lstStyle/>
          <a:p>
            <a:r>
              <a:rPr lang="tr-TR" sz="2000"/>
              <a:t>CNN Algoritmasının çalıştırıldığı veriseti ve sonuçları</a:t>
            </a:r>
          </a:p>
        </p:txBody>
      </p:sp>
      <p:pic>
        <p:nvPicPr>
          <p:cNvPr id="5" name="Picture 4" descr="noktalı bağlı 3B beyaz çizgiler">
            <a:extLst>
              <a:ext uri="{FF2B5EF4-FFF2-40B4-BE49-F238E27FC236}">
                <a16:creationId xmlns:a16="http://schemas.microsoft.com/office/drawing/2014/main" id="{D63BC76B-F710-07DC-0746-D82F74CF420E}"/>
              </a:ext>
            </a:extLst>
          </p:cNvPr>
          <p:cNvPicPr>
            <a:picLocks noChangeAspect="1"/>
          </p:cNvPicPr>
          <p:nvPr/>
        </p:nvPicPr>
        <p:blipFill>
          <a:blip r:embed="rId2"/>
          <a:srcRect l="40029" r="19225"/>
          <a:stretch/>
        </p:blipFill>
        <p:spPr>
          <a:xfrm>
            <a:off x="20" y="10"/>
            <a:ext cx="4657325" cy="6857990"/>
          </a:xfrm>
          <a:prstGeom prst="rect">
            <a:avLst/>
          </a:prstGeom>
        </p:spPr>
      </p:pic>
      <p:sp>
        <p:nvSpPr>
          <p:cNvPr id="3" name="İçerik Yer Tutucusu 2">
            <a:extLst>
              <a:ext uri="{FF2B5EF4-FFF2-40B4-BE49-F238E27FC236}">
                <a16:creationId xmlns:a16="http://schemas.microsoft.com/office/drawing/2014/main" id="{068B9CFD-A79F-87AB-314E-543F81D9BE11}"/>
              </a:ext>
            </a:extLst>
          </p:cNvPr>
          <p:cNvSpPr>
            <a:spLocks noGrp="1"/>
          </p:cNvSpPr>
          <p:nvPr>
            <p:ph idx="1"/>
          </p:nvPr>
        </p:nvSpPr>
        <p:spPr>
          <a:xfrm>
            <a:off x="5445496" y="2640692"/>
            <a:ext cx="5925310" cy="3255252"/>
          </a:xfrm>
        </p:spPr>
        <p:txBody>
          <a:bodyPr>
            <a:normAutofit/>
          </a:bodyPr>
          <a:lstStyle/>
          <a:p>
            <a:pPr marL="0" indent="0">
              <a:buNone/>
            </a:pPr>
            <a:r>
              <a:rPr lang="tr-TR" dirty="0"/>
              <a:t>Kullanılan algoritma, CNN (</a:t>
            </a:r>
            <a:r>
              <a:rPr lang="tr-TR" dirty="0" err="1"/>
              <a:t>Convolutional</a:t>
            </a:r>
            <a:r>
              <a:rPr lang="tr-TR" dirty="0"/>
              <a:t> </a:t>
            </a:r>
            <a:r>
              <a:rPr lang="tr-TR" dirty="0" err="1"/>
              <a:t>Neural</a:t>
            </a:r>
            <a:r>
              <a:rPr lang="tr-TR" dirty="0"/>
              <a:t> Networks), görüntülerdeki özellikleri öğrenmeye yönelik bir yapay zeka modelidir. Bu ağ, görsel verilerle ilgili çok katmanlı öğrenme süreçlerinden geçer, her katmanda daha derin özellikler öğrenir. Bu projede, görüntülerden elde edilen özellikler sınıflandırmak için </a:t>
            </a:r>
            <a:r>
              <a:rPr lang="tr-TR" dirty="0" err="1"/>
              <a:t>softmax</a:t>
            </a:r>
            <a:r>
              <a:rPr lang="tr-TR" dirty="0"/>
              <a:t> aktivasyon fonksiyonu kullanılarak iki sınıf: </a:t>
            </a:r>
            <a:r>
              <a:rPr lang="tr-TR" dirty="0" err="1"/>
              <a:t>Cancer</a:t>
            </a:r>
            <a:r>
              <a:rPr lang="tr-TR" dirty="0"/>
              <a:t> ve </a:t>
            </a:r>
            <a:r>
              <a:rPr lang="tr-TR" dirty="0" err="1"/>
              <a:t>Non_Cancer</a:t>
            </a:r>
            <a:r>
              <a:rPr lang="tr-TR" dirty="0"/>
              <a:t> olarak belirlendi. </a:t>
            </a:r>
          </a:p>
        </p:txBody>
      </p:sp>
    </p:spTree>
    <p:extLst>
      <p:ext uri="{BB962C8B-B14F-4D97-AF65-F5344CB8AC3E}">
        <p14:creationId xmlns:p14="http://schemas.microsoft.com/office/powerpoint/2010/main" val="13688020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7704"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5" name="İçerik Yer Tutucusu 4" descr="metin, ekran görüntüsü, diyagram, dikdörtgen içeren bir resim&#10;&#10;Açıklama otomatik olarak oluşturuldu">
            <a:extLst>
              <a:ext uri="{FF2B5EF4-FFF2-40B4-BE49-F238E27FC236}">
                <a16:creationId xmlns:a16="http://schemas.microsoft.com/office/drawing/2014/main" id="{6D5A0556-27F6-BE98-282A-205310BECB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3468" y="676363"/>
            <a:ext cx="6250769" cy="5344407"/>
          </a:xfrm>
          <a:prstGeom prst="rect">
            <a:avLst/>
          </a:prstGeom>
        </p:spPr>
      </p:pic>
      <p:sp>
        <p:nvSpPr>
          <p:cNvPr id="6" name="Rectangle 1">
            <a:extLst>
              <a:ext uri="{FF2B5EF4-FFF2-40B4-BE49-F238E27FC236}">
                <a16:creationId xmlns:a16="http://schemas.microsoft.com/office/drawing/2014/main" id="{484F1485-94AB-E815-E51E-285E925208E6}"/>
              </a:ext>
            </a:extLst>
          </p:cNvPr>
          <p:cNvSpPr>
            <a:spLocks noChangeArrowheads="1"/>
          </p:cNvSpPr>
          <p:nvPr/>
        </p:nvSpPr>
        <p:spPr bwMode="auto">
          <a:xfrm>
            <a:off x="7717919" y="3177246"/>
            <a:ext cx="4038599" cy="33813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marR="0" lvl="0" indent="-228600" defTabSz="914400" fontAlgn="base">
              <a:lnSpc>
                <a:spcPct val="90000"/>
              </a:lnSpc>
              <a:spcBef>
                <a:spcPts val="1000"/>
              </a:spcBef>
              <a:spcAft>
                <a:spcPct val="0"/>
              </a:spcAft>
              <a:buClr>
                <a:schemeClr val="accent2"/>
              </a:buClr>
              <a:buSzTx/>
              <a:buFont typeface="Arial" panose="020B0604020202020204" pitchFamily="34" charset="0"/>
              <a:buChar char="•"/>
              <a:tabLst/>
            </a:pPr>
            <a:r>
              <a:rPr kumimoji="0" lang="en-US" altLang="tr-TR" sz="1500" b="1" i="0" u="none" strike="noStrike" cap="none" normalizeH="0" baseline="0" dirty="0">
                <a:ln>
                  <a:noFill/>
                </a:ln>
                <a:solidFill>
                  <a:schemeClr val="bg1"/>
                </a:solidFill>
                <a:effectLst/>
              </a:rPr>
              <a:t>True Positives (TP)</a:t>
            </a:r>
            <a:r>
              <a:rPr kumimoji="0" lang="en-US" altLang="tr-TR" sz="1500" b="0" i="0" u="none" strike="noStrike" cap="none" normalizeH="0" baseline="0" dirty="0">
                <a:ln>
                  <a:noFill/>
                </a:ln>
                <a:solidFill>
                  <a:schemeClr val="bg1"/>
                </a:solidFill>
                <a:effectLst/>
              </a:rPr>
              <a:t> = </a:t>
            </a:r>
            <a:r>
              <a:rPr lang="tr-TR" altLang="tr-TR" sz="1500" dirty="0">
                <a:solidFill>
                  <a:schemeClr val="bg1"/>
                </a:solidFill>
              </a:rPr>
              <a:t>32</a:t>
            </a:r>
            <a:r>
              <a:rPr kumimoji="0" lang="en-US" altLang="tr-TR" sz="1500" b="0" i="0" u="none" strike="noStrike" cap="none" normalizeH="0" baseline="0" dirty="0">
                <a:ln>
                  <a:noFill/>
                </a:ln>
                <a:solidFill>
                  <a:schemeClr val="bg1"/>
                </a:solidFill>
                <a:effectLst/>
              </a:rPr>
              <a:t>: Model, </a:t>
            </a:r>
            <a:r>
              <a:rPr kumimoji="0" lang="en-US" altLang="tr-TR" sz="1500" b="0" i="0" u="none" strike="noStrike" cap="none" normalizeH="0" baseline="0" dirty="0" err="1">
                <a:ln>
                  <a:noFill/>
                </a:ln>
                <a:solidFill>
                  <a:schemeClr val="bg1"/>
                </a:solidFill>
                <a:effectLst/>
              </a:rPr>
              <a:t>pozitif</a:t>
            </a:r>
            <a:r>
              <a:rPr kumimoji="0" lang="en-US" altLang="tr-TR" sz="1500" b="0" i="0" u="none" strike="noStrike" cap="none" normalizeH="0" baseline="0" dirty="0">
                <a:ln>
                  <a:noFill/>
                </a:ln>
                <a:solidFill>
                  <a:schemeClr val="bg1"/>
                </a:solidFill>
                <a:effectLst/>
              </a:rPr>
              <a:t> </a:t>
            </a:r>
            <a:r>
              <a:rPr kumimoji="0" lang="en-US" altLang="tr-TR" sz="1500" b="0" i="0" u="none" strike="noStrike" cap="none" normalizeH="0" baseline="0" dirty="0" err="1">
                <a:ln>
                  <a:noFill/>
                </a:ln>
                <a:solidFill>
                  <a:schemeClr val="bg1"/>
                </a:solidFill>
                <a:effectLst/>
              </a:rPr>
              <a:t>sınıfı</a:t>
            </a:r>
            <a:r>
              <a:rPr kumimoji="0" lang="en-US" altLang="tr-TR" sz="1500" b="0" i="0" u="none" strike="noStrike" cap="none" normalizeH="0" baseline="0" dirty="0">
                <a:ln>
                  <a:noFill/>
                </a:ln>
                <a:solidFill>
                  <a:schemeClr val="bg1"/>
                </a:solidFill>
                <a:effectLst/>
              </a:rPr>
              <a:t> ("Cancer") </a:t>
            </a:r>
            <a:r>
              <a:rPr kumimoji="0" lang="en-US" altLang="tr-TR" sz="1500" b="0" i="0" u="none" strike="noStrike" cap="none" normalizeH="0" baseline="0" dirty="0" err="1">
                <a:ln>
                  <a:noFill/>
                </a:ln>
                <a:solidFill>
                  <a:schemeClr val="bg1"/>
                </a:solidFill>
                <a:effectLst/>
              </a:rPr>
              <a:t>doğru</a:t>
            </a:r>
            <a:r>
              <a:rPr kumimoji="0" lang="en-US" altLang="tr-TR" sz="1500" b="0" i="0" u="none" strike="noStrike" cap="none" normalizeH="0" baseline="0" dirty="0">
                <a:ln>
                  <a:noFill/>
                </a:ln>
                <a:solidFill>
                  <a:schemeClr val="bg1"/>
                </a:solidFill>
                <a:effectLst/>
              </a:rPr>
              <a:t> </a:t>
            </a:r>
            <a:r>
              <a:rPr kumimoji="0" lang="en-US" altLang="tr-TR" sz="1500" b="0" i="0" u="none" strike="noStrike" cap="none" normalizeH="0" baseline="0" dirty="0" err="1">
                <a:ln>
                  <a:noFill/>
                </a:ln>
                <a:solidFill>
                  <a:schemeClr val="bg1"/>
                </a:solidFill>
                <a:effectLst/>
              </a:rPr>
              <a:t>tahmin</a:t>
            </a:r>
            <a:r>
              <a:rPr kumimoji="0" lang="en-US" altLang="tr-TR" sz="1500" b="0" i="0" u="none" strike="noStrike" cap="none" normalizeH="0" baseline="0" dirty="0">
                <a:ln>
                  <a:noFill/>
                </a:ln>
                <a:solidFill>
                  <a:schemeClr val="bg1"/>
                </a:solidFill>
                <a:effectLst/>
              </a:rPr>
              <a:t> </a:t>
            </a:r>
            <a:r>
              <a:rPr kumimoji="0" lang="en-US" altLang="tr-TR" sz="1500" b="0" i="0" u="none" strike="noStrike" cap="none" normalizeH="0" baseline="0" dirty="0" err="1">
                <a:ln>
                  <a:noFill/>
                </a:ln>
                <a:solidFill>
                  <a:schemeClr val="bg1"/>
                </a:solidFill>
                <a:effectLst/>
              </a:rPr>
              <a:t>etmiş</a:t>
            </a:r>
            <a:r>
              <a:rPr kumimoji="0" lang="en-US" altLang="tr-TR" sz="1500" b="0" i="0" u="none" strike="noStrike" cap="none" normalizeH="0" baseline="0" dirty="0">
                <a:ln>
                  <a:noFill/>
                </a:ln>
                <a:solidFill>
                  <a:schemeClr val="bg1"/>
                </a:solidFill>
                <a:effectLst/>
              </a:rPr>
              <a:t>.</a:t>
            </a:r>
          </a:p>
          <a:p>
            <a:pPr marL="0" marR="0" lvl="0" indent="-228600" defTabSz="914400" fontAlgn="base">
              <a:lnSpc>
                <a:spcPct val="90000"/>
              </a:lnSpc>
              <a:spcBef>
                <a:spcPts val="1000"/>
              </a:spcBef>
              <a:spcAft>
                <a:spcPct val="0"/>
              </a:spcAft>
              <a:buClr>
                <a:schemeClr val="accent2"/>
              </a:buClr>
              <a:buSzTx/>
              <a:buFont typeface="Arial" panose="020B0604020202020204" pitchFamily="34" charset="0"/>
              <a:buChar char="•"/>
              <a:tabLst/>
            </a:pPr>
            <a:r>
              <a:rPr kumimoji="0" lang="en-US" altLang="tr-TR" sz="1500" b="1" i="0" u="none" strike="noStrike" cap="none" normalizeH="0" baseline="0" dirty="0">
                <a:ln>
                  <a:noFill/>
                </a:ln>
                <a:solidFill>
                  <a:schemeClr val="bg1"/>
                </a:solidFill>
                <a:effectLst/>
              </a:rPr>
              <a:t>True Negatives (TN)</a:t>
            </a:r>
            <a:r>
              <a:rPr kumimoji="0" lang="en-US" altLang="tr-TR" sz="1500" b="0" i="0" u="none" strike="noStrike" cap="none" normalizeH="0" baseline="0" dirty="0">
                <a:ln>
                  <a:noFill/>
                </a:ln>
                <a:solidFill>
                  <a:schemeClr val="bg1"/>
                </a:solidFill>
                <a:effectLst/>
              </a:rPr>
              <a:t> = </a:t>
            </a:r>
            <a:r>
              <a:rPr lang="tr-TR" altLang="tr-TR" sz="1500" dirty="0">
                <a:solidFill>
                  <a:schemeClr val="bg1"/>
                </a:solidFill>
              </a:rPr>
              <a:t>13</a:t>
            </a:r>
            <a:r>
              <a:rPr kumimoji="0" lang="en-US" altLang="tr-TR" sz="1500" b="0" i="0" u="none" strike="noStrike" cap="none" normalizeH="0" baseline="0" dirty="0">
                <a:ln>
                  <a:noFill/>
                </a:ln>
                <a:solidFill>
                  <a:schemeClr val="bg1"/>
                </a:solidFill>
                <a:effectLst/>
              </a:rPr>
              <a:t>: Model, </a:t>
            </a:r>
            <a:r>
              <a:rPr kumimoji="0" lang="en-US" altLang="tr-TR" sz="1500" b="0" i="0" u="none" strike="noStrike" cap="none" normalizeH="0" baseline="0" dirty="0" err="1">
                <a:ln>
                  <a:noFill/>
                </a:ln>
                <a:solidFill>
                  <a:schemeClr val="bg1"/>
                </a:solidFill>
                <a:effectLst/>
              </a:rPr>
              <a:t>negatif</a:t>
            </a:r>
            <a:r>
              <a:rPr kumimoji="0" lang="en-US" altLang="tr-TR" sz="1500" b="0" i="0" u="none" strike="noStrike" cap="none" normalizeH="0" baseline="0" dirty="0">
                <a:ln>
                  <a:noFill/>
                </a:ln>
                <a:solidFill>
                  <a:schemeClr val="bg1"/>
                </a:solidFill>
                <a:effectLst/>
              </a:rPr>
              <a:t> </a:t>
            </a:r>
            <a:r>
              <a:rPr kumimoji="0" lang="en-US" altLang="tr-TR" sz="1500" b="0" i="0" u="none" strike="noStrike" cap="none" normalizeH="0" baseline="0" dirty="0" err="1">
                <a:ln>
                  <a:noFill/>
                </a:ln>
                <a:solidFill>
                  <a:schemeClr val="bg1"/>
                </a:solidFill>
                <a:effectLst/>
              </a:rPr>
              <a:t>sınıfı</a:t>
            </a:r>
            <a:r>
              <a:rPr kumimoji="0" lang="en-US" altLang="tr-TR" sz="1500" b="0" i="0" u="none" strike="noStrike" cap="none" normalizeH="0" baseline="0" dirty="0">
                <a:ln>
                  <a:noFill/>
                </a:ln>
                <a:solidFill>
                  <a:schemeClr val="bg1"/>
                </a:solidFill>
                <a:effectLst/>
              </a:rPr>
              <a:t> ("</a:t>
            </a:r>
            <a:r>
              <a:rPr kumimoji="0" lang="en-US" altLang="tr-TR" sz="1500" b="0" i="0" u="none" strike="noStrike" cap="none" normalizeH="0" baseline="0" dirty="0" err="1">
                <a:ln>
                  <a:noFill/>
                </a:ln>
                <a:solidFill>
                  <a:schemeClr val="bg1"/>
                </a:solidFill>
                <a:effectLst/>
              </a:rPr>
              <a:t>Non_Cancer</a:t>
            </a:r>
            <a:r>
              <a:rPr kumimoji="0" lang="en-US" altLang="tr-TR" sz="1500" b="0" i="0" u="none" strike="noStrike" cap="none" normalizeH="0" baseline="0" dirty="0">
                <a:ln>
                  <a:noFill/>
                </a:ln>
                <a:solidFill>
                  <a:schemeClr val="bg1"/>
                </a:solidFill>
                <a:effectLst/>
              </a:rPr>
              <a:t>") </a:t>
            </a:r>
            <a:r>
              <a:rPr kumimoji="0" lang="en-US" altLang="tr-TR" sz="1500" b="0" i="0" u="none" strike="noStrike" cap="none" normalizeH="0" baseline="0" dirty="0" err="1">
                <a:ln>
                  <a:noFill/>
                </a:ln>
                <a:solidFill>
                  <a:schemeClr val="bg1"/>
                </a:solidFill>
                <a:effectLst/>
              </a:rPr>
              <a:t>doğru</a:t>
            </a:r>
            <a:r>
              <a:rPr kumimoji="0" lang="en-US" altLang="tr-TR" sz="1500" b="0" i="0" u="none" strike="noStrike" cap="none" normalizeH="0" baseline="0" dirty="0">
                <a:ln>
                  <a:noFill/>
                </a:ln>
                <a:solidFill>
                  <a:schemeClr val="bg1"/>
                </a:solidFill>
                <a:effectLst/>
              </a:rPr>
              <a:t> </a:t>
            </a:r>
            <a:r>
              <a:rPr kumimoji="0" lang="en-US" altLang="tr-TR" sz="1500" b="0" i="0" u="none" strike="noStrike" cap="none" normalizeH="0" baseline="0" dirty="0" err="1">
                <a:ln>
                  <a:noFill/>
                </a:ln>
                <a:solidFill>
                  <a:schemeClr val="bg1"/>
                </a:solidFill>
                <a:effectLst/>
              </a:rPr>
              <a:t>tahmin</a:t>
            </a:r>
            <a:r>
              <a:rPr kumimoji="0" lang="en-US" altLang="tr-TR" sz="1500" b="0" i="0" u="none" strike="noStrike" cap="none" normalizeH="0" baseline="0" dirty="0">
                <a:ln>
                  <a:noFill/>
                </a:ln>
                <a:solidFill>
                  <a:schemeClr val="bg1"/>
                </a:solidFill>
                <a:effectLst/>
              </a:rPr>
              <a:t> </a:t>
            </a:r>
            <a:r>
              <a:rPr kumimoji="0" lang="en-US" altLang="tr-TR" sz="1500" b="0" i="0" u="none" strike="noStrike" cap="none" normalizeH="0" baseline="0" dirty="0" err="1">
                <a:ln>
                  <a:noFill/>
                </a:ln>
                <a:solidFill>
                  <a:schemeClr val="bg1"/>
                </a:solidFill>
                <a:effectLst/>
              </a:rPr>
              <a:t>etmiş</a:t>
            </a:r>
            <a:r>
              <a:rPr kumimoji="0" lang="en-US" altLang="tr-TR" sz="1500" b="0" i="0" u="none" strike="noStrike" cap="none" normalizeH="0" baseline="0" dirty="0">
                <a:ln>
                  <a:noFill/>
                </a:ln>
                <a:solidFill>
                  <a:schemeClr val="bg1"/>
                </a:solidFill>
                <a:effectLst/>
              </a:rPr>
              <a:t>.</a:t>
            </a:r>
          </a:p>
          <a:p>
            <a:pPr marL="0" marR="0" lvl="0" indent="-228600" defTabSz="914400" fontAlgn="base">
              <a:lnSpc>
                <a:spcPct val="90000"/>
              </a:lnSpc>
              <a:spcBef>
                <a:spcPts val="1000"/>
              </a:spcBef>
              <a:spcAft>
                <a:spcPct val="0"/>
              </a:spcAft>
              <a:buClr>
                <a:schemeClr val="accent2"/>
              </a:buClr>
              <a:buSzTx/>
              <a:buFont typeface="Arial" panose="020B0604020202020204" pitchFamily="34" charset="0"/>
              <a:buChar char="•"/>
              <a:tabLst/>
            </a:pPr>
            <a:r>
              <a:rPr kumimoji="0" lang="en-US" altLang="tr-TR" sz="1500" b="1" i="0" u="none" strike="noStrike" cap="none" normalizeH="0" baseline="0" dirty="0">
                <a:ln>
                  <a:noFill/>
                </a:ln>
                <a:solidFill>
                  <a:schemeClr val="bg1"/>
                </a:solidFill>
                <a:effectLst/>
              </a:rPr>
              <a:t>False Positives (FP)</a:t>
            </a:r>
            <a:r>
              <a:rPr kumimoji="0" lang="en-US" altLang="tr-TR" sz="1500" b="0" i="0" u="none" strike="noStrike" cap="none" normalizeH="0" baseline="0" dirty="0">
                <a:ln>
                  <a:noFill/>
                </a:ln>
                <a:solidFill>
                  <a:schemeClr val="bg1"/>
                </a:solidFill>
                <a:effectLst/>
              </a:rPr>
              <a:t> = </a:t>
            </a:r>
            <a:r>
              <a:rPr lang="tr-TR" altLang="tr-TR" sz="1500" dirty="0">
                <a:solidFill>
                  <a:schemeClr val="bg1"/>
                </a:solidFill>
              </a:rPr>
              <a:t>2</a:t>
            </a:r>
            <a:r>
              <a:rPr kumimoji="0" lang="en-US" altLang="tr-TR" sz="1500" b="0" i="0" u="none" strike="noStrike" cap="none" normalizeH="0" baseline="0" dirty="0">
                <a:ln>
                  <a:noFill/>
                </a:ln>
                <a:solidFill>
                  <a:schemeClr val="bg1"/>
                </a:solidFill>
                <a:effectLst/>
              </a:rPr>
              <a:t>: Model, </a:t>
            </a:r>
            <a:r>
              <a:rPr kumimoji="0" lang="en-US" altLang="tr-TR" sz="1500" b="0" i="0" u="none" strike="noStrike" cap="none" normalizeH="0" baseline="0" dirty="0" err="1">
                <a:ln>
                  <a:noFill/>
                </a:ln>
                <a:solidFill>
                  <a:schemeClr val="bg1"/>
                </a:solidFill>
                <a:effectLst/>
              </a:rPr>
              <a:t>negatif</a:t>
            </a:r>
            <a:r>
              <a:rPr kumimoji="0" lang="en-US" altLang="tr-TR" sz="1500" b="0" i="0" u="none" strike="noStrike" cap="none" normalizeH="0" baseline="0" dirty="0">
                <a:ln>
                  <a:noFill/>
                </a:ln>
                <a:solidFill>
                  <a:schemeClr val="bg1"/>
                </a:solidFill>
                <a:effectLst/>
              </a:rPr>
              <a:t> </a:t>
            </a:r>
            <a:r>
              <a:rPr kumimoji="0" lang="en-US" altLang="tr-TR" sz="1500" b="0" i="0" u="none" strike="noStrike" cap="none" normalizeH="0" baseline="0" dirty="0" err="1">
                <a:ln>
                  <a:noFill/>
                </a:ln>
                <a:solidFill>
                  <a:schemeClr val="bg1"/>
                </a:solidFill>
                <a:effectLst/>
              </a:rPr>
              <a:t>sınıfı</a:t>
            </a:r>
            <a:r>
              <a:rPr kumimoji="0" lang="en-US" altLang="tr-TR" sz="1500" b="0" i="0" u="none" strike="noStrike" cap="none" normalizeH="0" baseline="0" dirty="0">
                <a:ln>
                  <a:noFill/>
                </a:ln>
                <a:solidFill>
                  <a:schemeClr val="bg1"/>
                </a:solidFill>
                <a:effectLst/>
              </a:rPr>
              <a:t> ("</a:t>
            </a:r>
            <a:r>
              <a:rPr kumimoji="0" lang="en-US" altLang="tr-TR" sz="1500" b="0" i="0" u="none" strike="noStrike" cap="none" normalizeH="0" baseline="0" dirty="0" err="1">
                <a:ln>
                  <a:noFill/>
                </a:ln>
                <a:solidFill>
                  <a:schemeClr val="bg1"/>
                </a:solidFill>
                <a:effectLst/>
              </a:rPr>
              <a:t>Non_Cancer</a:t>
            </a:r>
            <a:r>
              <a:rPr kumimoji="0" lang="en-US" altLang="tr-TR" sz="1500" b="0" i="0" u="none" strike="noStrike" cap="none" normalizeH="0" baseline="0" dirty="0">
                <a:ln>
                  <a:noFill/>
                </a:ln>
                <a:solidFill>
                  <a:schemeClr val="bg1"/>
                </a:solidFill>
                <a:effectLst/>
              </a:rPr>
              <a:t>") </a:t>
            </a:r>
            <a:r>
              <a:rPr kumimoji="0" lang="en-US" altLang="tr-TR" sz="1500" b="0" i="0" u="none" strike="noStrike" cap="none" normalizeH="0" baseline="0" dirty="0" err="1">
                <a:ln>
                  <a:noFill/>
                </a:ln>
                <a:solidFill>
                  <a:schemeClr val="bg1"/>
                </a:solidFill>
                <a:effectLst/>
              </a:rPr>
              <a:t>yanlış</a:t>
            </a:r>
            <a:r>
              <a:rPr kumimoji="0" lang="en-US" altLang="tr-TR" sz="1500" b="0" i="0" u="none" strike="noStrike" cap="none" normalizeH="0" baseline="0" dirty="0">
                <a:ln>
                  <a:noFill/>
                </a:ln>
                <a:solidFill>
                  <a:schemeClr val="bg1"/>
                </a:solidFill>
                <a:effectLst/>
              </a:rPr>
              <a:t> </a:t>
            </a:r>
            <a:r>
              <a:rPr kumimoji="0" lang="en-US" altLang="tr-TR" sz="1500" b="0" i="0" u="none" strike="noStrike" cap="none" normalizeH="0" baseline="0" dirty="0" err="1">
                <a:ln>
                  <a:noFill/>
                </a:ln>
                <a:solidFill>
                  <a:schemeClr val="bg1"/>
                </a:solidFill>
                <a:effectLst/>
              </a:rPr>
              <a:t>bir</a:t>
            </a:r>
            <a:r>
              <a:rPr kumimoji="0" lang="en-US" altLang="tr-TR" sz="1500" b="0" i="0" u="none" strike="noStrike" cap="none" normalizeH="0" baseline="0" dirty="0">
                <a:ln>
                  <a:noFill/>
                </a:ln>
                <a:solidFill>
                  <a:schemeClr val="bg1"/>
                </a:solidFill>
                <a:effectLst/>
              </a:rPr>
              <a:t> </a:t>
            </a:r>
            <a:r>
              <a:rPr kumimoji="0" lang="en-US" altLang="tr-TR" sz="1500" b="0" i="0" u="none" strike="noStrike" cap="none" normalizeH="0" baseline="0" dirty="0" err="1">
                <a:ln>
                  <a:noFill/>
                </a:ln>
                <a:solidFill>
                  <a:schemeClr val="bg1"/>
                </a:solidFill>
                <a:effectLst/>
              </a:rPr>
              <a:t>şekilde</a:t>
            </a:r>
            <a:r>
              <a:rPr kumimoji="0" lang="en-US" altLang="tr-TR" sz="1500" b="0" i="0" u="none" strike="noStrike" cap="none" normalizeH="0" baseline="0" dirty="0">
                <a:ln>
                  <a:noFill/>
                </a:ln>
                <a:solidFill>
                  <a:schemeClr val="bg1"/>
                </a:solidFill>
                <a:effectLst/>
              </a:rPr>
              <a:t> </a:t>
            </a:r>
            <a:r>
              <a:rPr kumimoji="0" lang="en-US" altLang="tr-TR" sz="1500" b="0" i="0" u="none" strike="noStrike" cap="none" normalizeH="0" baseline="0" dirty="0" err="1">
                <a:ln>
                  <a:noFill/>
                </a:ln>
                <a:solidFill>
                  <a:schemeClr val="bg1"/>
                </a:solidFill>
                <a:effectLst/>
              </a:rPr>
              <a:t>pozitif</a:t>
            </a:r>
            <a:r>
              <a:rPr kumimoji="0" lang="en-US" altLang="tr-TR" sz="1500" b="0" i="0" u="none" strike="noStrike" cap="none" normalizeH="0" baseline="0" dirty="0">
                <a:ln>
                  <a:noFill/>
                </a:ln>
                <a:solidFill>
                  <a:schemeClr val="bg1"/>
                </a:solidFill>
                <a:effectLst/>
              </a:rPr>
              <a:t> </a:t>
            </a:r>
            <a:r>
              <a:rPr kumimoji="0" lang="en-US" altLang="tr-TR" sz="1500" b="0" i="0" u="none" strike="noStrike" cap="none" normalizeH="0" baseline="0" dirty="0" err="1">
                <a:ln>
                  <a:noFill/>
                </a:ln>
                <a:solidFill>
                  <a:schemeClr val="bg1"/>
                </a:solidFill>
                <a:effectLst/>
              </a:rPr>
              <a:t>olarak</a:t>
            </a:r>
            <a:r>
              <a:rPr kumimoji="0" lang="en-US" altLang="tr-TR" sz="1500" b="0" i="0" u="none" strike="noStrike" cap="none" normalizeH="0" baseline="0" dirty="0">
                <a:ln>
                  <a:noFill/>
                </a:ln>
                <a:solidFill>
                  <a:schemeClr val="bg1"/>
                </a:solidFill>
                <a:effectLst/>
              </a:rPr>
              <a:t> </a:t>
            </a:r>
            <a:r>
              <a:rPr kumimoji="0" lang="en-US" altLang="tr-TR" sz="1500" b="0" i="0" u="none" strike="noStrike" cap="none" normalizeH="0" baseline="0" dirty="0" err="1">
                <a:ln>
                  <a:noFill/>
                </a:ln>
                <a:solidFill>
                  <a:schemeClr val="bg1"/>
                </a:solidFill>
                <a:effectLst/>
              </a:rPr>
              <a:t>tahmin</a:t>
            </a:r>
            <a:r>
              <a:rPr kumimoji="0" lang="en-US" altLang="tr-TR" sz="1500" b="0" i="0" u="none" strike="noStrike" cap="none" normalizeH="0" baseline="0" dirty="0">
                <a:ln>
                  <a:noFill/>
                </a:ln>
                <a:solidFill>
                  <a:schemeClr val="bg1"/>
                </a:solidFill>
                <a:effectLst/>
              </a:rPr>
              <a:t> </a:t>
            </a:r>
            <a:r>
              <a:rPr kumimoji="0" lang="en-US" altLang="tr-TR" sz="1500" b="0" i="0" u="none" strike="noStrike" cap="none" normalizeH="0" baseline="0" dirty="0" err="1">
                <a:ln>
                  <a:noFill/>
                </a:ln>
                <a:solidFill>
                  <a:schemeClr val="bg1"/>
                </a:solidFill>
                <a:effectLst/>
              </a:rPr>
              <a:t>etmiş</a:t>
            </a:r>
            <a:r>
              <a:rPr kumimoji="0" lang="en-US" altLang="tr-TR" sz="1500" b="0" i="0" u="none" strike="noStrike" cap="none" normalizeH="0" baseline="0" dirty="0">
                <a:ln>
                  <a:noFill/>
                </a:ln>
                <a:solidFill>
                  <a:schemeClr val="bg1"/>
                </a:solidFill>
                <a:effectLst/>
              </a:rPr>
              <a:t>.</a:t>
            </a:r>
          </a:p>
          <a:p>
            <a:pPr marL="0" marR="0" lvl="0" indent="-228600" defTabSz="914400" fontAlgn="base">
              <a:lnSpc>
                <a:spcPct val="90000"/>
              </a:lnSpc>
              <a:spcBef>
                <a:spcPts val="1000"/>
              </a:spcBef>
              <a:spcAft>
                <a:spcPct val="0"/>
              </a:spcAft>
              <a:buClr>
                <a:schemeClr val="accent2"/>
              </a:buClr>
              <a:buSzTx/>
              <a:buFont typeface="Arial" panose="020B0604020202020204" pitchFamily="34" charset="0"/>
              <a:buChar char="•"/>
              <a:tabLst/>
            </a:pPr>
            <a:r>
              <a:rPr kumimoji="0" lang="en-US" altLang="tr-TR" sz="1500" b="1" i="0" u="none" strike="noStrike" cap="none" normalizeH="0" baseline="0" dirty="0">
                <a:ln>
                  <a:noFill/>
                </a:ln>
                <a:solidFill>
                  <a:schemeClr val="bg1"/>
                </a:solidFill>
                <a:effectLst/>
              </a:rPr>
              <a:t>False Negatives (FN)</a:t>
            </a:r>
            <a:r>
              <a:rPr kumimoji="0" lang="en-US" altLang="tr-TR" sz="1500" b="0" i="0" u="none" strike="noStrike" cap="none" normalizeH="0" baseline="0" dirty="0">
                <a:ln>
                  <a:noFill/>
                </a:ln>
                <a:solidFill>
                  <a:schemeClr val="bg1"/>
                </a:solidFill>
                <a:effectLst/>
              </a:rPr>
              <a:t> = </a:t>
            </a:r>
            <a:r>
              <a:rPr kumimoji="0" lang="tr-TR" altLang="tr-TR" sz="1500" b="0" i="0" u="none" strike="noStrike" cap="none" normalizeH="0" baseline="0" dirty="0">
                <a:ln>
                  <a:noFill/>
                </a:ln>
                <a:solidFill>
                  <a:schemeClr val="bg1"/>
                </a:solidFill>
                <a:effectLst/>
              </a:rPr>
              <a:t>11</a:t>
            </a:r>
            <a:r>
              <a:rPr kumimoji="0" lang="en-US" altLang="tr-TR" sz="1500" b="0" i="0" u="none" strike="noStrike" cap="none" normalizeH="0" baseline="0" dirty="0">
                <a:ln>
                  <a:noFill/>
                </a:ln>
                <a:solidFill>
                  <a:schemeClr val="bg1"/>
                </a:solidFill>
                <a:effectLst/>
              </a:rPr>
              <a:t>: Model, </a:t>
            </a:r>
            <a:r>
              <a:rPr kumimoji="0" lang="en-US" altLang="tr-TR" sz="1500" b="0" i="0" u="none" strike="noStrike" cap="none" normalizeH="0" baseline="0" dirty="0" err="1">
                <a:ln>
                  <a:noFill/>
                </a:ln>
                <a:solidFill>
                  <a:schemeClr val="bg1"/>
                </a:solidFill>
                <a:effectLst/>
              </a:rPr>
              <a:t>pozitif</a:t>
            </a:r>
            <a:r>
              <a:rPr kumimoji="0" lang="en-US" altLang="tr-TR" sz="1500" b="0" i="0" u="none" strike="noStrike" cap="none" normalizeH="0" baseline="0" dirty="0">
                <a:ln>
                  <a:noFill/>
                </a:ln>
                <a:solidFill>
                  <a:schemeClr val="bg1"/>
                </a:solidFill>
                <a:effectLst/>
              </a:rPr>
              <a:t> </a:t>
            </a:r>
            <a:r>
              <a:rPr kumimoji="0" lang="en-US" altLang="tr-TR" sz="1500" b="0" i="0" u="none" strike="noStrike" cap="none" normalizeH="0" baseline="0" dirty="0" err="1">
                <a:ln>
                  <a:noFill/>
                </a:ln>
                <a:solidFill>
                  <a:schemeClr val="bg1"/>
                </a:solidFill>
                <a:effectLst/>
              </a:rPr>
              <a:t>sınıfı</a:t>
            </a:r>
            <a:r>
              <a:rPr kumimoji="0" lang="en-US" altLang="tr-TR" sz="1500" b="0" i="0" u="none" strike="noStrike" cap="none" normalizeH="0" baseline="0" dirty="0">
                <a:ln>
                  <a:noFill/>
                </a:ln>
                <a:solidFill>
                  <a:schemeClr val="bg1"/>
                </a:solidFill>
                <a:effectLst/>
              </a:rPr>
              <a:t> ( "Cancer") </a:t>
            </a:r>
            <a:r>
              <a:rPr kumimoji="0" lang="en-US" altLang="tr-TR" sz="1500" b="0" i="0" u="none" strike="noStrike" cap="none" normalizeH="0" baseline="0" dirty="0" err="1">
                <a:ln>
                  <a:noFill/>
                </a:ln>
                <a:solidFill>
                  <a:schemeClr val="bg1"/>
                </a:solidFill>
                <a:effectLst/>
              </a:rPr>
              <a:t>yanlış</a:t>
            </a:r>
            <a:r>
              <a:rPr kumimoji="0" lang="en-US" altLang="tr-TR" sz="1500" b="0" i="0" u="none" strike="noStrike" cap="none" normalizeH="0" baseline="0" dirty="0">
                <a:ln>
                  <a:noFill/>
                </a:ln>
                <a:solidFill>
                  <a:schemeClr val="bg1"/>
                </a:solidFill>
                <a:effectLst/>
              </a:rPr>
              <a:t> </a:t>
            </a:r>
            <a:r>
              <a:rPr kumimoji="0" lang="en-US" altLang="tr-TR" sz="1500" b="0" i="0" u="none" strike="noStrike" cap="none" normalizeH="0" baseline="0" dirty="0" err="1">
                <a:ln>
                  <a:noFill/>
                </a:ln>
                <a:solidFill>
                  <a:schemeClr val="bg1"/>
                </a:solidFill>
                <a:effectLst/>
              </a:rPr>
              <a:t>bir</a:t>
            </a:r>
            <a:r>
              <a:rPr kumimoji="0" lang="en-US" altLang="tr-TR" sz="1500" b="0" i="0" u="none" strike="noStrike" cap="none" normalizeH="0" baseline="0" dirty="0">
                <a:ln>
                  <a:noFill/>
                </a:ln>
                <a:solidFill>
                  <a:schemeClr val="bg1"/>
                </a:solidFill>
                <a:effectLst/>
              </a:rPr>
              <a:t> </a:t>
            </a:r>
            <a:r>
              <a:rPr kumimoji="0" lang="en-US" altLang="tr-TR" sz="1500" b="0" i="0" u="none" strike="noStrike" cap="none" normalizeH="0" baseline="0" dirty="0" err="1">
                <a:ln>
                  <a:noFill/>
                </a:ln>
                <a:solidFill>
                  <a:schemeClr val="bg1"/>
                </a:solidFill>
                <a:effectLst/>
              </a:rPr>
              <a:t>şekilde</a:t>
            </a:r>
            <a:r>
              <a:rPr kumimoji="0" lang="en-US" altLang="tr-TR" sz="1500" b="0" i="0" u="none" strike="noStrike" cap="none" normalizeH="0" baseline="0" dirty="0">
                <a:ln>
                  <a:noFill/>
                </a:ln>
                <a:solidFill>
                  <a:schemeClr val="bg1"/>
                </a:solidFill>
                <a:effectLst/>
              </a:rPr>
              <a:t> </a:t>
            </a:r>
            <a:r>
              <a:rPr kumimoji="0" lang="en-US" altLang="tr-TR" sz="1500" b="0" i="0" u="none" strike="noStrike" cap="none" normalizeH="0" baseline="0" dirty="0" err="1">
                <a:ln>
                  <a:noFill/>
                </a:ln>
                <a:solidFill>
                  <a:schemeClr val="bg1"/>
                </a:solidFill>
                <a:effectLst/>
              </a:rPr>
              <a:t>negatif</a:t>
            </a:r>
            <a:r>
              <a:rPr kumimoji="0" lang="en-US" altLang="tr-TR" sz="1500" b="0" i="0" u="none" strike="noStrike" cap="none" normalizeH="0" baseline="0" dirty="0">
                <a:ln>
                  <a:noFill/>
                </a:ln>
                <a:solidFill>
                  <a:schemeClr val="bg1"/>
                </a:solidFill>
                <a:effectLst/>
              </a:rPr>
              <a:t> </a:t>
            </a:r>
            <a:r>
              <a:rPr kumimoji="0" lang="en-US" altLang="tr-TR" sz="1500" b="0" i="0" u="none" strike="noStrike" cap="none" normalizeH="0" baseline="0" dirty="0" err="1">
                <a:ln>
                  <a:noFill/>
                </a:ln>
                <a:solidFill>
                  <a:schemeClr val="bg1"/>
                </a:solidFill>
                <a:effectLst/>
              </a:rPr>
              <a:t>olarak</a:t>
            </a:r>
            <a:r>
              <a:rPr kumimoji="0" lang="en-US" altLang="tr-TR" sz="1500" b="0" i="0" u="none" strike="noStrike" cap="none" normalizeH="0" baseline="0" dirty="0">
                <a:ln>
                  <a:noFill/>
                </a:ln>
                <a:solidFill>
                  <a:schemeClr val="bg1"/>
                </a:solidFill>
                <a:effectLst/>
              </a:rPr>
              <a:t> </a:t>
            </a:r>
            <a:r>
              <a:rPr kumimoji="0" lang="en-US" altLang="tr-TR" sz="1500" b="0" i="0" u="none" strike="noStrike" cap="none" normalizeH="0" baseline="0" dirty="0" err="1">
                <a:ln>
                  <a:noFill/>
                </a:ln>
                <a:solidFill>
                  <a:schemeClr val="bg1"/>
                </a:solidFill>
                <a:effectLst/>
              </a:rPr>
              <a:t>tahmin</a:t>
            </a:r>
            <a:r>
              <a:rPr kumimoji="0" lang="en-US" altLang="tr-TR" sz="1500" b="0" i="0" u="none" strike="noStrike" cap="none" normalizeH="0" baseline="0" dirty="0">
                <a:ln>
                  <a:noFill/>
                </a:ln>
                <a:solidFill>
                  <a:schemeClr val="bg1"/>
                </a:solidFill>
                <a:effectLst/>
              </a:rPr>
              <a:t> </a:t>
            </a:r>
            <a:r>
              <a:rPr kumimoji="0" lang="en-US" altLang="tr-TR" sz="1500" b="0" i="0" u="none" strike="noStrike" cap="none" normalizeH="0" baseline="0" dirty="0" err="1">
                <a:ln>
                  <a:noFill/>
                </a:ln>
                <a:solidFill>
                  <a:schemeClr val="bg1"/>
                </a:solidFill>
                <a:effectLst/>
              </a:rPr>
              <a:t>etmiş</a:t>
            </a:r>
            <a:r>
              <a:rPr kumimoji="0" lang="en-US" altLang="tr-TR" sz="1500" b="0" i="0" u="none" strike="noStrike" cap="none" normalizeH="0" baseline="0" dirty="0">
                <a:ln>
                  <a:noFill/>
                </a:ln>
                <a:solidFill>
                  <a:schemeClr val="bg1"/>
                </a:solidFill>
                <a:effectLst/>
              </a:rPr>
              <a:t>. </a:t>
            </a:r>
          </a:p>
        </p:txBody>
      </p:sp>
      <p:pic>
        <p:nvPicPr>
          <p:cNvPr id="8" name="Resim 7" descr="metin, yazı tipi, ekran görüntüsü, beyaz içeren bir resim&#10;&#10;Açıklama otomatik olarak oluşturuldu">
            <a:extLst>
              <a:ext uri="{FF2B5EF4-FFF2-40B4-BE49-F238E27FC236}">
                <a16:creationId xmlns:a16="http://schemas.microsoft.com/office/drawing/2014/main" id="{938678A6-1FC4-1761-4356-4FD254BA1F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4177" y="573681"/>
            <a:ext cx="3966082" cy="2029884"/>
          </a:xfrm>
          <a:prstGeom prst="rect">
            <a:avLst/>
          </a:prstGeom>
        </p:spPr>
      </p:pic>
    </p:spTree>
    <p:extLst>
      <p:ext uri="{BB962C8B-B14F-4D97-AF65-F5344CB8AC3E}">
        <p14:creationId xmlns:p14="http://schemas.microsoft.com/office/powerpoint/2010/main" val="28143953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AB75813-1BF9-DE6A-FCFA-4A05AD1C2EBE}"/>
              </a:ext>
            </a:extLst>
          </p:cNvPr>
          <p:cNvSpPr>
            <a:spLocks noGrp="1"/>
          </p:cNvSpPr>
          <p:nvPr>
            <p:ph type="title"/>
          </p:nvPr>
        </p:nvSpPr>
        <p:spPr>
          <a:xfrm>
            <a:off x="2535936" y="261348"/>
            <a:ext cx="7729728" cy="938802"/>
          </a:xfrm>
        </p:spPr>
        <p:txBody>
          <a:bodyPr/>
          <a:lstStyle/>
          <a:p>
            <a:r>
              <a:rPr lang="tr-TR" dirty="0" err="1"/>
              <a:t>Random-forest</a:t>
            </a:r>
            <a:r>
              <a:rPr lang="tr-TR" dirty="0"/>
              <a:t> Sonuçları</a:t>
            </a:r>
          </a:p>
        </p:txBody>
      </p:sp>
      <p:pic>
        <p:nvPicPr>
          <p:cNvPr id="5" name="İçerik Yer Tutucusu 4" descr="metin, ekran görüntüsü, yazı tipi, sayı, numara içeren bir resim&#10;&#10;Açıklama otomatik olarak oluşturuldu">
            <a:extLst>
              <a:ext uri="{FF2B5EF4-FFF2-40B4-BE49-F238E27FC236}">
                <a16:creationId xmlns:a16="http://schemas.microsoft.com/office/drawing/2014/main" id="{25FBB4D8-05DE-E011-EAE1-0DE179E209F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4617" y="1378857"/>
            <a:ext cx="6777088" cy="2735944"/>
          </a:xfrm>
        </p:spPr>
      </p:pic>
      <p:pic>
        <p:nvPicPr>
          <p:cNvPr id="7" name="Resim 6" descr="metin, ekran görüntüsü, diyagram, dikdörtgen içeren bir resim&#10;&#10;Açıklama otomatik olarak oluşturuldu">
            <a:extLst>
              <a:ext uri="{FF2B5EF4-FFF2-40B4-BE49-F238E27FC236}">
                <a16:creationId xmlns:a16="http://schemas.microsoft.com/office/drawing/2014/main" id="{A63688BE-E474-A34A-28AF-CAD85D18C4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4000" y="2067194"/>
            <a:ext cx="5459433" cy="4666527"/>
          </a:xfrm>
          <a:prstGeom prst="rect">
            <a:avLst/>
          </a:prstGeom>
        </p:spPr>
      </p:pic>
    </p:spTree>
    <p:extLst>
      <p:ext uri="{BB962C8B-B14F-4D97-AF65-F5344CB8AC3E}">
        <p14:creationId xmlns:p14="http://schemas.microsoft.com/office/powerpoint/2010/main" val="19281829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E9F26AF7-9AC1-49A4-8F89-2C63E1C0A0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91851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AD304132-F22C-3E1F-50AE-63F554DF52FF}"/>
              </a:ext>
            </a:extLst>
          </p:cNvPr>
          <p:cNvSpPr>
            <a:spLocks noGrp="1"/>
          </p:cNvSpPr>
          <p:nvPr>
            <p:ph type="title"/>
          </p:nvPr>
        </p:nvSpPr>
        <p:spPr>
          <a:xfrm>
            <a:off x="1746250" y="5473700"/>
            <a:ext cx="8991600" cy="1046514"/>
          </a:xfrm>
        </p:spPr>
        <p:txBody>
          <a:bodyPr vert="horz" lIns="274320" tIns="182880" rIns="274320" bIns="182880" rtlCol="0" anchor="ctr" anchorCtr="1">
            <a:normAutofit/>
          </a:bodyPr>
          <a:lstStyle/>
          <a:p>
            <a:r>
              <a:rPr lang="en-US" sz="3200"/>
              <a:t>CNN VS RANDOM-FOREST</a:t>
            </a:r>
          </a:p>
        </p:txBody>
      </p:sp>
      <p:pic>
        <p:nvPicPr>
          <p:cNvPr id="7" name="Resim 6" descr="ekran görüntüsü, metin, dikdörtgen, renklilik içeren bir resim&#10;&#10;Açıklama otomatik olarak oluşturuldu">
            <a:extLst>
              <a:ext uri="{FF2B5EF4-FFF2-40B4-BE49-F238E27FC236}">
                <a16:creationId xmlns:a16="http://schemas.microsoft.com/office/drawing/2014/main" id="{D14A54E8-83D1-3752-AB90-64958E9C42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836" y="337786"/>
            <a:ext cx="6051480" cy="4432709"/>
          </a:xfrm>
          <a:prstGeom prst="rect">
            <a:avLst/>
          </a:prstGeom>
        </p:spPr>
      </p:pic>
      <p:pic>
        <p:nvPicPr>
          <p:cNvPr id="5" name="İçerik Yer Tutucusu 4" descr="metin, ekran görüntüsü, yazı tipi, sayı, numara içeren bir resim&#10;&#10;Açıklama otomatik olarak oluşturuldu">
            <a:extLst>
              <a:ext uri="{FF2B5EF4-FFF2-40B4-BE49-F238E27FC236}">
                <a16:creationId xmlns:a16="http://schemas.microsoft.com/office/drawing/2014/main" id="{082A8DC9-4764-6E26-8249-92D93C1F476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096000" y="1428420"/>
            <a:ext cx="5975847" cy="2061665"/>
          </a:xfrm>
          <a:prstGeom prst="rect">
            <a:avLst/>
          </a:prstGeom>
        </p:spPr>
      </p:pic>
    </p:spTree>
    <p:extLst>
      <p:ext uri="{BB962C8B-B14F-4D97-AF65-F5344CB8AC3E}">
        <p14:creationId xmlns:p14="http://schemas.microsoft.com/office/powerpoint/2010/main" val="769466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E090A8-F771-8F41-0EB6-3C372AD3C9F5}"/>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419501C6-F015-4273-AF88-E0F6C8538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A677DB7-5829-45BD-9754-5EC484CC42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FB07E24C-D99A-C7C9-8FF8-3B0DE63DE29D}"/>
              </a:ext>
            </a:extLst>
          </p:cNvPr>
          <p:cNvSpPr>
            <a:spLocks noGrp="1"/>
          </p:cNvSpPr>
          <p:nvPr>
            <p:ph type="title"/>
          </p:nvPr>
        </p:nvSpPr>
        <p:spPr>
          <a:xfrm>
            <a:off x="804672" y="2404872"/>
            <a:ext cx="3044950" cy="1627792"/>
          </a:xfrm>
        </p:spPr>
        <p:txBody>
          <a:bodyPr vert="horz" lIns="274320" tIns="182880" rIns="274320" bIns="182880" rtlCol="0" anchor="ctr" anchorCtr="1">
            <a:normAutofit/>
          </a:bodyPr>
          <a:lstStyle/>
          <a:p>
            <a:r>
              <a:rPr lang="en-US"/>
              <a:t>CNN VS RANDOM-FOREST</a:t>
            </a:r>
          </a:p>
        </p:txBody>
      </p:sp>
      <p:pic>
        <p:nvPicPr>
          <p:cNvPr id="8" name="Resim 7">
            <a:extLst>
              <a:ext uri="{FF2B5EF4-FFF2-40B4-BE49-F238E27FC236}">
                <a16:creationId xmlns:a16="http://schemas.microsoft.com/office/drawing/2014/main" id="{A4EC3403-1C25-6DC5-B7BA-9938A531EA0C}"/>
              </a:ext>
            </a:extLst>
          </p:cNvPr>
          <p:cNvPicPr>
            <a:picLocks noChangeAspect="1"/>
          </p:cNvPicPr>
          <p:nvPr/>
        </p:nvPicPr>
        <p:blipFill>
          <a:blip r:embed="rId2"/>
          <a:stretch>
            <a:fillRect/>
          </a:stretch>
        </p:blipFill>
        <p:spPr>
          <a:xfrm>
            <a:off x="5294376" y="1425671"/>
            <a:ext cx="6257544" cy="3691951"/>
          </a:xfrm>
          <a:prstGeom prst="rect">
            <a:avLst/>
          </a:prstGeom>
        </p:spPr>
      </p:pic>
    </p:spTree>
    <p:extLst>
      <p:ext uri="{BB962C8B-B14F-4D97-AF65-F5344CB8AC3E}">
        <p14:creationId xmlns:p14="http://schemas.microsoft.com/office/powerpoint/2010/main" val="2614221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F667D6-F3A1-090D-CD12-327F17F74F7A}"/>
            </a:ext>
          </a:extLst>
        </p:cNvPr>
        <p:cNvGrpSpPr/>
        <p:nvPr/>
      </p:nvGrpSpPr>
      <p:grpSpPr>
        <a:xfrm>
          <a:off x="0" y="0"/>
          <a:ext cx="0" cy="0"/>
          <a:chOff x="0" y="0"/>
          <a:chExt cx="0" cy="0"/>
        </a:xfrm>
      </p:grpSpPr>
      <p:sp useBgFill="1">
        <p:nvSpPr>
          <p:cNvPr id="34" name="Rectangle 30">
            <a:extLst>
              <a:ext uri="{FF2B5EF4-FFF2-40B4-BE49-F238E27FC236}">
                <a16:creationId xmlns:a16="http://schemas.microsoft.com/office/drawing/2014/main" id="{3F47E20B-1205-4238-A82B-90EF577F3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13567AC-EB9A-47A9-B6EC-B5BDB73B11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558BE439-ABD1-190E-FBE5-CCBF6A0C7128}"/>
              </a:ext>
            </a:extLst>
          </p:cNvPr>
          <p:cNvSpPr>
            <a:spLocks noGrp="1"/>
          </p:cNvSpPr>
          <p:nvPr>
            <p:ph type="title"/>
          </p:nvPr>
        </p:nvSpPr>
        <p:spPr>
          <a:xfrm>
            <a:off x="643468" y="1693466"/>
            <a:ext cx="3415288" cy="3212654"/>
          </a:xfrm>
          <a:noFill/>
          <a:ln>
            <a:solidFill>
              <a:schemeClr val="bg1"/>
            </a:solidFill>
          </a:ln>
        </p:spPr>
        <p:txBody>
          <a:bodyPr vert="horz" lIns="274320" tIns="182880" rIns="274320" bIns="182880" rtlCol="0" anchor="ctr" anchorCtr="1">
            <a:normAutofit/>
          </a:bodyPr>
          <a:lstStyle/>
          <a:p>
            <a:r>
              <a:rPr lang="en-US" sz="3800" dirty="0">
                <a:solidFill>
                  <a:schemeClr val="bg1"/>
                </a:solidFill>
              </a:rPr>
              <a:t>CNN VS RANDOM-FOREST</a:t>
            </a:r>
          </a:p>
        </p:txBody>
      </p:sp>
      <p:pic>
        <p:nvPicPr>
          <p:cNvPr id="4" name="Resim 3">
            <a:extLst>
              <a:ext uri="{FF2B5EF4-FFF2-40B4-BE49-F238E27FC236}">
                <a16:creationId xmlns:a16="http://schemas.microsoft.com/office/drawing/2014/main" id="{1EB6914D-DB89-8C77-092F-17A3871F603C}"/>
              </a:ext>
            </a:extLst>
          </p:cNvPr>
          <p:cNvPicPr>
            <a:picLocks noChangeAspect="1"/>
          </p:cNvPicPr>
          <p:nvPr/>
        </p:nvPicPr>
        <p:blipFill>
          <a:blip r:embed="rId2"/>
          <a:stretch>
            <a:fillRect/>
          </a:stretch>
        </p:blipFill>
        <p:spPr>
          <a:xfrm>
            <a:off x="5297763" y="1192051"/>
            <a:ext cx="6250769" cy="4313030"/>
          </a:xfrm>
          <a:prstGeom prst="rect">
            <a:avLst/>
          </a:prstGeom>
        </p:spPr>
      </p:pic>
    </p:spTree>
    <p:extLst>
      <p:ext uri="{BB962C8B-B14F-4D97-AF65-F5344CB8AC3E}">
        <p14:creationId xmlns:p14="http://schemas.microsoft.com/office/powerpoint/2010/main" val="3707818816"/>
      </p:ext>
    </p:extLst>
  </p:cSld>
  <p:clrMapOvr>
    <a:masterClrMapping/>
  </p:clrMapOvr>
</p:sld>
</file>

<file path=ppt/theme/theme1.xml><?xml version="1.0" encoding="utf-8"?>
<a:theme xmlns:a="http://schemas.openxmlformats.org/drawingml/2006/main" name="Paket">
  <a:themeElements>
    <a:clrScheme name="Paket">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ke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ket">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Paket</Template>
  <TotalTime>203</TotalTime>
  <Words>1316</Words>
  <Application>Microsoft Office PowerPoint</Application>
  <PresentationFormat>Geniş ekran</PresentationFormat>
  <Paragraphs>133</Paragraphs>
  <Slides>24</Slides>
  <Notes>0</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24</vt:i4>
      </vt:variant>
    </vt:vector>
  </HeadingPairs>
  <TitlesOfParts>
    <vt:vector size="27" baseType="lpstr">
      <vt:lpstr>Arial</vt:lpstr>
      <vt:lpstr>Gill Sans MT</vt:lpstr>
      <vt:lpstr>Paket</vt:lpstr>
      <vt:lpstr>PowerPoint Sunusu</vt:lpstr>
      <vt:lpstr>CNN Nedir?</vt:lpstr>
      <vt:lpstr>PowerPoint Sunusu</vt:lpstr>
      <vt:lpstr>CNN'nin Yapısı ve Temel Bileşenleri</vt:lpstr>
      <vt:lpstr>Convolutional Katman (Konvolüsyon Katmanı) </vt:lpstr>
      <vt:lpstr>Pooling Katmanı (Havuzlama Katmanı)</vt:lpstr>
      <vt:lpstr>Aktarma Katmanları </vt:lpstr>
      <vt:lpstr>CNN'nin Temel Prensipleri</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CNN Algoritmasının çalıştırıldığı veriseti ve sonuçları</vt:lpstr>
      <vt:lpstr>PowerPoint Sunusu</vt:lpstr>
      <vt:lpstr>Random-forest Sonuçları</vt:lpstr>
      <vt:lpstr>CNN VS RANDOM-FOREST</vt:lpstr>
      <vt:lpstr>CNN VS RANDOM-FOREST</vt:lpstr>
      <vt:lpstr>CNN VS RANDOM-FOREST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Metehan Ayhan</dc:creator>
  <cp:lastModifiedBy>Metehan Ayhan</cp:lastModifiedBy>
  <cp:revision>7</cp:revision>
  <dcterms:created xsi:type="dcterms:W3CDTF">2024-11-25T20:27:47Z</dcterms:created>
  <dcterms:modified xsi:type="dcterms:W3CDTF">2025-01-05T16:10:06Z</dcterms:modified>
</cp:coreProperties>
</file>